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38404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0B1120"/>
                </a:solidFill>
                <a:latin typeface="Segoe UI"/>
              </a:defRPr>
            </a:pPr>
            <a:r>
              <a:t>AI-BASED AGRO-HYDROLOGICAL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AI-Based Crop Water Footprint Predictor</a:t>
            </a:r>
          </a:p>
          <a:p>
            <a:pPr>
              <a:spcBef>
                <a:spcPts val="800"/>
              </a:spcBef>
              <a:defRPr sz="1600" b="0">
                <a:solidFill>
                  <a:srgbClr val="38BDF8"/>
                </a:solidFill>
                <a:latin typeface="Segoe UI"/>
              </a:defRPr>
            </a:pPr>
            <a:r>
              <a:t>Multi-Decadal Earth Observation, Physics-Constrained LightGBM &amp; Climatological Triad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5468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 transformative end-to-end intelligent system resolving the agricultural input barrier. By synthesizing 26 years of Google Earth Engine satellite reanalysis (ERA5-Land, MODIS, CHIRPS) with physics-constrained machine learning, AquaCrop-AI delivers zero-friction Crop Water Footprint (CWF) predictions across 1-day to 10-year horizons under Normal, Drought, and Deluge regimes.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343400"/>
            <a:ext cx="22860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53128"/>
            <a:ext cx="2286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300,232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965192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Satellite Records (2000–2025)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176" y="4343400"/>
            <a:ext cx="22860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4453128"/>
            <a:ext cx="2286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88.4%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4965192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Empirical Validation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343400"/>
            <a:ext cx="22860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4453128"/>
            <a:ext cx="2286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89.2%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965192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Holdout Evaluation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05088" y="4343400"/>
            <a:ext cx="22860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4453128"/>
            <a:ext cx="2286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Segoe UI"/>
              </a:defRPr>
            </a:pPr>
            <a:r>
              <a:t>3-Way Triad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4965192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Normal • Drought • Flood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Introduction: The Agro-Hydrological Water Imperative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Understanding the Crop Water Footprint (CWF) metric and its pivotal role in climate resilience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💧 What is Crop Water Footprint (CWF)?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Standard Metric ($m^3/ton$): The volume of freshwater consumed to produce one unit of crop yield.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Green Water Footprint ($GWF$): Rainwater evaporated, transpired, or incorporated into plant biomass.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Blue Water Footprint ($BWF$): Surface &amp; groundwater extracted for artificial irrigation.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Grey Water Footprint ($GreyWF$): Freshwater required to assimilate agrochemical pollutant 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🌍 National &amp; Global Agricultural Context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Global Water Stress: Agriculture accounts for 70% of global freshwater withdrawals, climbing past 85% in India.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Sugarcane &amp; Cash Crop Epocenters: In Maharashtra's Panchganga Basin, sugarcane covers only ~15% of cultivable land but consumes &gt;60% of regional irrigation.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Severe Ground Depletion: Groundwater tables dropping at 0.5–1.2 m/year due to unmonitored flood irrigation.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Proactive vs. Reactive: Need to pivot from crisis disaster response to real-time predictive agro-hydrology.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42255" cy="4480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🚀 AquaCrop-AI: Paradigm Shift in Footprinting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Zero-Friction User Experience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Eliminates the impossible requirement for farmers to measure solar radiation or vapor pressure. Operates with only 3 inputs: Location, Crop, and Horizon.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Multi-Decadal Satellite Memory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Harnesses 26 continuous years (2000–2025) of authentic earth observation data (ERA5-Land, MODIS, CHIRPS) providing 300,232 empirical records.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Physics-Constrained ML Precision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LightGBM gradient boosting architecture enforcing mass conservation, achieving a credible 88.4% empirical R² and 0.38 mm RMSE.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3-Way Climatological Forecasting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Provides quantile risk forecasts: Normal (50th percentile), Drought/Stress (15th percentile), and Flood/Deluge (85th percentile).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Dynamic Yield Coupling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Integrates FAO-33 Stewart yield degradation to dynamically model yield collapse and water footprint surges during droughts.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Motivation: Urgency of Predictive Agro-Hydrology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Compounding climate risks, economic vulnerabilities, and systemic data access bottlenecks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💧 Groundwater Depletion &amp; Water Inequity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Over-extraction of peninsular aquifers has caused severe dry-season water stress.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Sugarcane consumes 2,000–3,000 liters of water per kilogram of sugar produced.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Water logging and soil salinization occur post-monsoon, followed by extreme irrigation deficits during dry months.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Critical need for precise Blue Water accounting to prevent aquifer depletion.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737360"/>
            <a:ext cx="342900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874519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🌡️ Climate Volatility &amp; Extreme Weather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Monsoonal delays and unseasonal deluge cycles are increasing in frequency and severity.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High Vapor Pressure Deficit (VPD &gt; 2.5 kPa) triggers plant stomatal shutdown and severe heat stress.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Flash droughts exhaust root-zone soil moisture within 10–14 days, precipitating sudden crop failure.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Static historical averages fail completely in the face of non-stationary climate extremes.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737360"/>
            <a:ext cx="342900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874519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🌾 Farmer Economic Distress &amp; Crop Failure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A 25% moisture deficit during sugarcane elongation results in a 30%–48% harvest yield collapse.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Economic loss can exceed ₹1,58,760 per hectare due to unmitigated water stress.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Farmers lack early warnings for multi-week and seasonal irrigation deficits.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Current tools are too academic, rigid, and disconnected from on-the-ground reality.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🎯 The Core Incentive: Democratizing Precision Agro-Hydrology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By coupling multi-decadal satellite observation with modern machine learning, we can replace academic manual calculators with a zero-friction, predictive intelligence engine that serves farmers, canal operators, and water policymakers.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Problem Statement: The Breakdown of Conventional CWF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Critical failure points in existing hydrological models, lookup tables, and user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217920" cy="4480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⚠️ Three Fundamental Bottlenecks in Existing Solutions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❌ The '15-Variable' Input Barrier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</a:defRPr>
            </a:pPr>
            <a:r>
              <a:t>   Standard tools (CROPWAT, AquaCrop, SWAT) require users to supply Net Solar Radiation, Dewpoint, Vapor Pressure, 3-layer Soil Moisture, and Aerodynamic Resistance. Non-academic users cannot answer these questions, rendering tools unusable in practice.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❌ Static, Unresponsive Crop Coefficients (Kc)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</a:defRPr>
            </a:pPr>
            <a:r>
              <a:t>   Existing engines rely on static FAO-56 tabular lookup curves. They fail to reflect actual vegetative health, ignore real-time satellite vegetation anomalies (NDVI/EVI), and miscalculate water use during heatwaves.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❌ Deterministic Blindness &amp; Zero Scenario Risk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</a:defRPr>
            </a:pPr>
            <a:r>
              <a:t>   Current calculators produce a single deterministic number. They cannot inform a farmer what happens during an intense drought (+592% Blue Water surge) versus an extreme monsoonal deluge, leaving decision-makers blind to climate variance.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❌ Decoupled Hydrology &amp; Harvest Yield Deficits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</a:defRPr>
            </a:pPr>
            <a:r>
              <a:t>   Hydrological models calculate evapotranspiration (ETc) in isolation from agronomic yield. Under severe moisture deficits, harvest yields collapse, exponentially inflating the true footprint (m³/ton), which standard tools completely miss.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737360"/>
            <a:ext cx="43278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74519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⚖️ Conventional vs. AquaCrop-AI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User Inputs Required:</a:t>
            </a:r>
          </a:p>
          <a:p>
            <a:pPr>
              <a:spcBef>
                <a:spcPts val="100"/>
              </a:spcBef>
              <a:defRPr sz="850">
                <a:solidFill>
                  <a:srgbClr val="10B981"/>
                </a:solidFill>
              </a:defRPr>
            </a:pPr>
            <a:r>
              <a:t>   Legacy: 15–20 Complex Weather Vars  ➔  AquaCrop-AI: 3 Inputs (Location, Crop, Horizon)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Vegetation Modeling:</a:t>
            </a:r>
          </a:p>
          <a:p>
            <a:pPr>
              <a:spcBef>
                <a:spcPts val="100"/>
              </a:spcBef>
              <a:defRPr sz="850">
                <a:solidFill>
                  <a:srgbClr val="10B981"/>
                </a:solidFill>
              </a:defRPr>
            </a:pPr>
            <a:r>
              <a:t>   Legacy: Static Tabular Kc Curves  ➔  AquaCrop-AI: Dynamic MODIS 500m Satellite NDVI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Atmospheric Stress:</a:t>
            </a:r>
          </a:p>
          <a:p>
            <a:pPr>
              <a:spcBef>
                <a:spcPts val="100"/>
              </a:spcBef>
              <a:defRPr sz="850">
                <a:solidFill>
                  <a:srgbClr val="10B981"/>
                </a:solidFill>
              </a:defRPr>
            </a:pPr>
            <a:r>
              <a:t>   Legacy: Linear Vapor Loss (No Cap)  ➔  AquaCrop-AI: Jarvis-Stewart Stomatal VPD Limiter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Prediction Horizons:</a:t>
            </a:r>
          </a:p>
          <a:p>
            <a:pPr>
              <a:spcBef>
                <a:spcPts val="100"/>
              </a:spcBef>
              <a:defRPr sz="850">
                <a:solidFill>
                  <a:srgbClr val="10B981"/>
                </a:solidFill>
              </a:defRPr>
            </a:pPr>
            <a:r>
              <a:t>   Legacy: Historical Retrospective Only  ➔  AquaCrop-AI: 1 Day to 10 Years Forecasting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Scenario Intelligence:</a:t>
            </a:r>
          </a:p>
          <a:p>
            <a:pPr>
              <a:spcBef>
                <a:spcPts val="100"/>
              </a:spcBef>
              <a:defRPr sz="850">
                <a:solidFill>
                  <a:srgbClr val="10B981"/>
                </a:solidFill>
              </a:defRPr>
            </a:pPr>
            <a:r>
              <a:t>   Legacy: Single Deterministic Value  ➔  AquaCrop-AI: 3-Way Climatology Triad + Confidence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Yield Coupling:</a:t>
            </a:r>
          </a:p>
          <a:p>
            <a:pPr>
              <a:spcBef>
                <a:spcPts val="100"/>
              </a:spcBef>
              <a:defRPr sz="850">
                <a:solidFill>
                  <a:srgbClr val="10B981"/>
                </a:solidFill>
              </a:defRPr>
            </a:pPr>
            <a:r>
              <a:t>   Legacy: Fixed Standard Yield Assumed  ➔  AquaCrop-AI: FAO-33 Stewart Dynamic Yield Deficit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Inference Speed:</a:t>
            </a:r>
          </a:p>
          <a:p>
            <a:pPr>
              <a:spcBef>
                <a:spcPts val="100"/>
              </a:spcBef>
              <a:defRPr sz="850">
                <a:solidFill>
                  <a:srgbClr val="10B981"/>
                </a:solidFill>
              </a:defRPr>
            </a:pPr>
            <a:r>
              <a:t>   Legacy: Manual Batch Execution  ➔  AquaCrop-AI: Sub-second API (&lt; 25 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Literature Survey: Theoretical Foundations &amp;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Synthesis of foundational works across agro-hydrology, satellite remote sensing, and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9377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FAO-56 Penman-Monteith Formulation</a:t>
            </a:r>
          </a:p>
          <a:p>
            <a:pPr>
              <a:defRPr sz="900" i="1">
                <a:solidFill>
                  <a:srgbClr val="94A3B8"/>
                </a:solidFill>
              </a:defRPr>
            </a:pPr>
            <a:r>
              <a:t>Citation: Allen et al. (1998)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Established the physical standard for Reference Evapotranspiration (ET0) using radiation, temperature, wind, and humidity.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Introduced single and dual crop coefficients (Kc = Kcb + Ke) to scale ET0 to specific crop canopies.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Limitation: Relies on static generalized phenology tables that ignore local vegetative anomalies and extreme climate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47088"/>
            <a:ext cx="49377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Water Footprint Network Framework</a:t>
            </a:r>
          </a:p>
          <a:p>
            <a:pPr>
              <a:defRPr sz="900" i="1">
                <a:solidFill>
                  <a:srgbClr val="94A3B8"/>
                </a:solidFill>
              </a:defRPr>
            </a:pPr>
            <a:r>
              <a:t>Citation: Hoekstra, Chapagain, et al. (2011)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Formalized the volumetric consumption framework: Green, Blue, and Grey Water Footprints.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Denominated water consumption per unit of agricultural yield: CWF = 10 · ∑ET / Yield (m³/ton).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Limitation: Methodological framework with no native automated predictive ML engine or multi-horizon forecasting.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78808"/>
            <a:ext cx="49377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Satellite Remote Sensing of ET (MOD16)</a:t>
            </a:r>
          </a:p>
          <a:p>
            <a:pPr>
              <a:defRPr sz="900" i="1">
                <a:solidFill>
                  <a:srgbClr val="94A3B8"/>
                </a:solidFill>
              </a:defRPr>
            </a:pPr>
            <a:r>
              <a:t>Citation: Mu, Zhao, Running (2011)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Derived global 8-day evapotranspiration using MODIS satellite imagery and reanalysis weather.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Demonstrated the power of satellite NDVI/EVI and stomatal resistance formulations at regional scale.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Limitation: 8-day composite lag, 500m coarse resolution, and scaling discontinuities observed across different MODIS epochs.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78808"/>
            <a:ext cx="49377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18CF8"/>
                </a:solidFill>
              </a:defRPr>
            </a:pPr>
            <a:r>
              <a:t>Biophysical Yield &amp; Stomatal Dynamics</a:t>
            </a:r>
          </a:p>
          <a:p>
            <a:pPr>
              <a:defRPr sz="900" i="1">
                <a:solidFill>
                  <a:srgbClr val="94A3B8"/>
                </a:solidFill>
              </a:defRPr>
            </a:pPr>
            <a:r>
              <a:t>Citation: Stewart et al. (1979) / Jarvis (1976)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FAO-33 Stewart Yield Model: Formulated the non-linear yield collapse under moisture deficit (1 - Ya/Ym = Ky(1 - ETa/ETm)).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Jarvis-Stewart Stomatal Conductance: Modeled stomatal shutdown under high VPD and dry root zones.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Limitation: Historically utilized in academic simulations but rarely coupled into automated machine learning pipelines.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GAPS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Gaps Identified: Critical Shortcomings in State-of-the-Art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Specific technological and methodological voids that AquaCrop-AI directly addresses and resolves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841248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10058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GAP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46504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The Input Barrier &amp; Usability Chokepoint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Shortcoming: Existing hydrological software (CROPWAT, SWAT, standard AquaCrop) requires 15+ thermodynamic variables. Farmers, canal managers, and field officers cannot supply surface net radiation or dewpoint depression, creating a total deployment deadlock.</a:t>
            </a:r>
          </a:p>
          <a:p>
            <a:pPr>
              <a:defRPr sz="850" b="1">
                <a:solidFill>
                  <a:srgbClr val="38BDF8"/>
                </a:solidFill>
              </a:defRPr>
            </a:pPr>
            <a:r>
              <a:t>Innovation: AquaCrop-AI Solution: 26-year empirical earth observation database acts as an automated weather engine requiring only 3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728655" cy="841248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2"/>
            <a:ext cx="10058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GAP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60904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Lack of Dynamic Vegetation Feedback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Shortcoming: Literature predominantly uses static crop coefficient curves (Kc). When drought, disease, or abnormal planting shifts crop vigor, static curves fail to capture real-time transpiration changes.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Innovation: AquaCrop-AI Solution: High-resolution MODIS MOD13A1 NDVI/EVI dynamically calibrates basal crop coefficient Kcb(t).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10728655" cy="841248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3592"/>
            <a:ext cx="10058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GAP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75304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Absence of Stomatal Hydraulic Regulation in ML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Shortcoming: Standard machine learning regressions predict unbounded evapotranspiration during afternoon heatwaves, violating plant physiology where stomata close when VPD exceeds 2.2 kPa.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Innovation: AquaCrop-AI Solution: Jarvis-Stewart thermodynamic threshold enforces stomatal resistance limits inside biophysical preprocessing.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10728655" cy="841248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07992"/>
            <a:ext cx="10058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GAP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89704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The Deterministic Fallacy (No Scenario Quantiles)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Shortcoming: Existing tools predict only a single deterministic ET value. They fail to communicate climatological risk distributions or predict extreme climate scenarios (drought vs. flood).</a:t>
            </a:r>
          </a:p>
          <a:p>
            <a:pPr>
              <a:defRPr sz="850" b="1">
                <a:solidFill>
                  <a:srgbClr val="EF4444"/>
                </a:solidFill>
              </a:defRPr>
            </a:pPr>
            <a:r>
              <a:t>Innovation: AquaCrop-AI Solution: 3-Way Quantile Climatology Triad (Normal, Drought, Deluge) with empirical probability confidence meters.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9240"/>
            <a:ext cx="10728655" cy="841248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22392"/>
            <a:ext cx="10058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GAP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404104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Decoupling of Crop Yield Deficit from CWF Denominator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Shortcoming: Hydrological models calculate ETc in isolation from crop yield. In reality, water stress during critical stages severely depresses harvest yield, causing the true footprint (m³/ton) to surge non-linearly.</a:t>
            </a:r>
          </a:p>
          <a:p>
            <a:pPr>
              <a:defRPr sz="850" b="1">
                <a:solidFill>
                  <a:srgbClr val="818CF8"/>
                </a:solidFill>
              </a:defRPr>
            </a:pPr>
            <a:r>
              <a:t>Innovation: AquaCrop-AI Solution: Coupled Stewart Yield Model (FAO-33) dynamically contracts yield denominator under water deficits.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Objectives: Primary &amp; Specific Sub-Objectives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Formalized technical milestones governing the design, empirical extraction, ML training,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🎯 PRIMARY RESEARCH OBJECTIVE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To develop, calibrate, and deploy a physics-constrained, machine-learning-powered Crop Water Footprint (CWF) prediction engine that eliminates the user input barrier by synthesizing 26 years of multi-sensor satellite reanalysis, delivering multi-horizon probabilistic scenario forecasts (1 day to 10 years) under sub-second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212080" cy="1051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62072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OBJ 1: Multi-Decadal Satellite Ingestion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Extract, clean, and spatio-temporally harmonize 26 continuous years (2000–2025) of daily earth observations via Google Earth Engine, compiling &gt;300,000 observational records for the Panchganga Basin.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88920"/>
            <a:ext cx="5212080" cy="1051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862072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OBJ 2: Zero-Friction User Experience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Architect an automated weather retrieval engine that replaces 15+ meteorological inputs with just 3 intuitive selections: Location, Crop Type, and Prediction Horizon.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12080" cy="1051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50791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OBJ 3: Physics-Constrained LightGBM Regressor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Train and cross-validate a gradient boosted tree regressor incorporating GDD, Dynamic Root Depth Zr, and Jarvis-Stewart VPD attenuation, achieving 88.4% empirical R² and 0.38 mm RMSE.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1051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50791"/>
            <a:ext cx="493776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t>OBJ 4: 3-Way Quantile Climatological Triad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Formulate empirical quantile distribution algorithms delivering Normal (P50), Drought Stress (P15), and Flood Deluge (P85) forecasts coupled with the Stewart yield degradation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39512"/>
            <a:ext cx="1045433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818CF8"/>
                </a:solidFill>
              </a:defRPr>
            </a:pPr>
            <a:r>
              <a:t>OBJ 5: Interactive Full-Stack Web Deployment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Implement an enterprise-grade asynchronous FastAPI microservice and React 18 dashboard featuring interactive GIS maps, audit trails, and sub-second real-time inference.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ARCHITECTURE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 &amp; Methodology: 4-Tier Decoupled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End-to-end dataflow ensuring physics compliance, zero negative interference, and sub-second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42032" cy="39319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42032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54203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TIER 1</a:t>
            </a:r>
          </a:p>
          <a:p>
            <a:pPr algn="ctr">
              <a:defRPr sz="850">
                <a:solidFill>
                  <a:srgbClr val="F8FAFC"/>
                </a:solidFill>
                <a:latin typeface="Segoe UI"/>
              </a:defRPr>
            </a:pPr>
            <a:r>
              <a:t>Empirical Climatology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2322576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User supplies: Location, Crop, and Horizon (1d to 10y).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Queries 26-year empirical database (2000–2025).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Extracts empirical distributions for target day of year.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Synthesizes 3 weather scenarios: Normal (P50), Drought (P15), Flood (P85).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Outputs scenario probability confidence via empirical frequencies.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737360"/>
            <a:ext cx="2542032" cy="39319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432" y="1737360"/>
            <a:ext cx="2542032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783080"/>
            <a:ext cx="254203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TIER 2</a:t>
            </a:r>
          </a:p>
          <a:p>
            <a:pPr algn="ctr">
              <a:defRPr sz="850">
                <a:solidFill>
                  <a:srgbClr val="F8FAFC"/>
                </a:solidFill>
                <a:latin typeface="Segoe UI"/>
              </a:defRPr>
            </a:pPr>
            <a:r>
              <a:t>Biophysical Feature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2322576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Converts ERA5-Land Kelvin temps to Celsius.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Computes Vapor Pressure Deficit (VPD = es - ea).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Accumulates Growing Degree Days (GDD, Tbase = 12°C).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Calculates Dynamic Rooting Depth: Zr(t) = 0.2m → 1.2m.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Applies Jarvis-Stewart stomatal VPD conductance limiter (gs).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737360"/>
            <a:ext cx="2542032" cy="39319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542032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783080"/>
            <a:ext cx="254203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TIER 3</a:t>
            </a:r>
          </a:p>
          <a:p>
            <a:pPr algn="ctr">
              <a:defRPr sz="850">
                <a:solidFill>
                  <a:srgbClr val="F8FAFC"/>
                </a:solidFill>
                <a:latin typeface="Segoe UI"/>
              </a:defRPr>
            </a:pPr>
            <a:r>
              <a:t>Core ML Inference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423160"/>
            <a:ext cx="2322576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High-performance LightGBM Gradient Boosted Regressor.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Predicts Standardized Consumptive Crop ET (ETc, mm/day).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Enforces physical mass-energy bounds (0 ≤ ETc ≤ Rn / λ).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Zero feature interference: Monotonic physical variables preserve split gain.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Empirically validated across 25 historical annual folds (88.4% R²).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737360"/>
            <a:ext cx="2542032" cy="39319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06256" y="1737360"/>
            <a:ext cx="2542032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6" y="1783080"/>
            <a:ext cx="254203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Segoe UI"/>
              </a:defRPr>
            </a:pPr>
            <a:r>
              <a:t>TIER 4</a:t>
            </a:r>
          </a:p>
          <a:p>
            <a:pPr algn="ctr">
              <a:defRPr sz="850">
                <a:solidFill>
                  <a:srgbClr val="F8FAFC"/>
                </a:solidFill>
                <a:latin typeface="Segoe UI"/>
              </a:defRPr>
            </a:pPr>
            <a:r>
              <a:t>Yield Deficit &amp; CWF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423160"/>
            <a:ext cx="2322576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Coupled Stewart Yield Model: (1 - Ya/Ym) = Ky(1 - ETa/ETm).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Modulates harvest yield (Ya) dynamically during drought.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Partitions Green Water Footprint (GWF) &amp; Blue Water Footprint (BWF).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Computes Total CWF = 10 · ∑ETc / Ya (m³/ton).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• Streams JSON payload to FastAPI and React UI in &lt; 25 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79008"/>
            <a:ext cx="10728655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1558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🛡️ Engineering Proof of Zero Negative Interference: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Decoupled pipeline guarantees that pre-processing biophysical transformations (GDD, stomatal resistance) and post-processing yield adjustments (Stewart Ky) operate strictly outside the ML weight space, completely eliminating model regression risks.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DATASET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Dataset &amp; Multi-Sensor Earth Observation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Authentic 26-year multi-satellite ingestion across 2000–2025 yielding 300,232 verified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2402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ERA5-Land Atmospheric &amp; Surface Reanalysis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Source: ECMWF / Copernicus Climate Data Store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Spatial Resolution: 0.1° (~9 km) hourly aggregated to daily.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Thermodynamic Variables: 2m Temperature (min, mean, max), 2m Dewpoint Temperature.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Energy &amp; Wind: Surface Solar Radiation Downwards (SSRD), Surface Air Pressure, 10m Wind Vectors (u, v).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Multi-Layer Soil Moisture: Volumetric water content across 3 vertical layers: Layer 1 (0–7 cm), Layer 2 (7–28 cm), Layer 3 (28–100 cm).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2402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MODIS MOD13A1 Vegetation Indices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Source: NASA EOSDIS / USGS LP DAAC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Spatial Resolution: 500-meter grid, 16-day composited.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Spectral Indices: Normalized Difference Vegetation Index (NDVI) &amp; Enhanced Vegetation Index (EVI).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Dynamic Phenology: Maps crop greenness, photosynthetic activity, and canopy development over time.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Harmonization: Temporal forward-fill and spline smoothing across annual crop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2402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MODIS MOD16A2 Global Evapotranspiration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Source: NASA EOSDIS / University of Montana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Spatial Resolution: 500-meter grid, 8-day composited.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Hydrological Variables: Total Evapotranspiration (ET), Latent Heat Flux (LE), Potential ET (PET).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Target Ground-Truth: Used for reference calibration; standardized to daily crop evapotranspiration (ETc, mm/day).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22402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CHIRPS High-Resolution Precipitation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Source: Climate Hazards Group / UCSB / USGS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Spatial Resolution: 0.05° (~5 km) daily satellite precipitation reanalysis.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Hydrological Accounting: Daily precipitation (P, mm/day) used for USDA Effective Rainfall (Peff) calculations.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Green/Blue Partitioning: Separates natural green rainwater from required blue surface irrigation.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INPUT FEATURES, TARGET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Input Features, Target Formulation &amp;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37 biophysical features mapped to standardized crop ETc via LightGBM gradient boosting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📋 37 Input Feature Categories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Atmospheric Thermodynamics: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   temp_c, temp_min_c, temp_max_c, dewpoint_c, vpd_kpa, rh_percent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Radiation &amp; Energy Closure: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   surface_solar_rad_mj, net_radiation_estimate, day_of_year_sin/cos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Multi-Layer Subsurface Hydrology: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   vol_soil_water_l1 (0–7cm), vol_soil_water_l2 (7–28cm), vol_soil_water_l3 (28–100cm), root_zone_sm_index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Satellite Vegetation Phenology: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   modis_ndvi, modis_evi, basal_crop_coeff_kcb, dual_kc_estimate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Agronomic &amp; Thermal Features: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   growing_degree_days_accum, dynamic_root_depth_zr, stomatal_cond_attenuation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🎯 Target Variable &amp; Regressor Architecture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Target: Standardized Daily Crop Evapotranspiration ($ET_c$, mm/day).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Model Architecture: LightGBM Regressor with GBDT objective and Huber loss.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Hyperparameters: 500 trees, learning_rate = 0.03, num_leaves = 63, max_depth = 8, colsample = 0.85.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Empirical Accuracy: 88.4% R², RMSE = 0.38 mm/day, MAE = 0.28 mm/day against authentic field and satellite benchmarks.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4967935" cy="31614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5897880"/>
            <a:ext cx="4967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Top Feature Importance: Reference ET0, Layer 1–3 Soil Moisture, NDVI, and VPD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DATA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 Preprocessing &amp; Advanced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Thermodynamic conversions, quality assurance, and biophysical plant-soil dynamics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85039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1. Thermodynamic Conversions &amp; Vapor Deficit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Kelvin to Celsius transformation for ERA5-Land variables (T = K - 273.15).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Saturation Vapor Pressure (Tetens formula): es(T) = 0.61078 · exp(17.27 · T / (T + 237.3)) kPa.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Actual Vapor Pressure: ea = es(Tdew).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Vapor Pressure Deficit (VPD): VPD = es - ea (fundamental driver of atmospheric evaporative demand).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15184"/>
            <a:ext cx="10728655" cy="85039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2. Dual Crop Coefficient Modeling (Kc = Kcb + Ke)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Basal Crop Coefficient (Kcb): Tightly coupled with satellite NDVI: Kcb = Kcb,min + (Kcb,max - Kcb,min) · f(NDVI).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Soil Evaporation Coefficient (Ke): Decouples surface soil moisture evaporation from vegetative transpiration.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Dynamic Decay: Ke spikes following irrigation/rainfall and exponentially decays over 3–5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38728"/>
            <a:ext cx="10728655" cy="85039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935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3. Jarvis-Stewart Stomatal Conductance Limiter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Incorporates plant hydraulic safety mechanisms: gs = gs,max · f(T) · f(VPD) · f(SMroot).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VPD Shutdown: When VPD &gt; 2.2 kPa, stomatal resistance increases non-linearly to prevent plant cavitation.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Prevents ML overestimation of evapotranspiration during afternoon heatwaves.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62272"/>
            <a:ext cx="10728655" cy="85039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17136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818CF8"/>
                </a:solidFill>
              </a:defRPr>
            </a:pPr>
            <a:r>
              <a:t>4. Growing Degree Days &amp; Dynamic Root Depth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Thermal Heat Units: GDD = ∑ max(0, (Tmax + Tmin)/2 - Tbase), with Tbase = 12°C for sugarcane.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Dynamic Root Expansion: Zr(t) = Zr,min + (Zr,max - Zr,min) · (GDD(t) / GDDmaturity).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Roots dynamically grow from 0.2m (emergence) to 1.2m (maturity), progressively tapping Layer 3 deep moisture.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85816"/>
            <a:ext cx="10728655" cy="85039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t>5. Quality Control &amp; Outlier Scrubbing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Median Absolute Deviation (MAD) filtering to purge sensor transmission artifacts.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Physical bounds clamping: 0% ≤ RH ≤ 100%, Soil Moisture within Wilting Point and Saturation.</a:t>
            </a:r>
          </a:p>
          <a:p>
            <a:pPr>
              <a:spcBef>
                <a:spcPts val="100"/>
              </a:spcBef>
              <a:defRPr sz="819">
                <a:solidFill>
                  <a:srgbClr val="F8FAFC"/>
                </a:solidFill>
              </a:defRPr>
            </a:pPr>
            <a:r>
              <a:t>• Temporal forward-fill and harmonic interpolation across satellite cloud gaps.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MODEL TRAINING &amp; CWF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Model Training, Walk-Forward Validation &amp; CWF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25-fold temporal cross-validation, empirical metrics, and volumetric Hoekstra water footprint equations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📈 Walk-Forward Expanding Window Validation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Strict Temporal Splitting:</a:t>
            </a:r>
          </a:p>
          <a:p>
            <a:pPr>
              <a:defRPr sz="830">
                <a:solidFill>
                  <a:srgbClr val="94A3B8"/>
                </a:solidFill>
              </a:defRPr>
            </a:pPr>
            <a:r>
              <a:t>   Eliminates future data leakage. Model trained on [2000 ... t-1] and evaluated strictly on year t across 25 consecutive annual folds.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Expanding Data Power:</a:t>
            </a:r>
          </a:p>
          <a:p>
            <a:pPr>
              <a:defRPr sz="830">
                <a:solidFill>
                  <a:srgbClr val="94A3B8"/>
                </a:solidFill>
              </a:defRPr>
            </a:pPr>
            <a:r>
              <a:t>   Validation accuracy steadily increases from 82.1% in early epochs to 86.4% in mid epochs and 89.2% in recent holdout years.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Peak Holdout Year (2025):</a:t>
            </a:r>
          </a:p>
          <a:p>
            <a:pPr>
              <a:defRPr sz="830">
                <a:solidFill>
                  <a:srgbClr val="94A3B8"/>
                </a:solidFill>
              </a:defRPr>
            </a:pPr>
            <a:r>
              <a:t>   Tested on completely unseen 2025 data: R² = 89.2%, RMSE = 0.36 mm/day, MAE = 0.26 mm/day under real environmental variance.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• Global Production Fit:</a:t>
            </a:r>
          </a:p>
          <a:p>
            <a:pPr>
              <a:defRPr sz="830">
                <a:solidFill>
                  <a:srgbClr val="94A3B8"/>
                </a:solidFill>
              </a:defRPr>
            </a:pPr>
            <a:r>
              <a:t>   Trained on compiled multi-decade dataset (75,972 clean samples): R² = 88.4%, RMSE = 0.38 mm/day, MAE = 0.28 mm/day.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💧 Water Footprint Network Formulation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Green CWF: GWF = 10 · min(ETc, Peff) / Ya (Rainwater consumption).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Blue CWF: BWF = 10 · max(0, ETc - Peff) / Ya (Irrigation extraction).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Total CWF: CWF = GWF + BWF (m³/ton) — Calibrated Sugarcane Baseline = 135.0 m³/ton.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Stewart Yield Coupling: (1 - Ya/Ym) = Ky(1 - ETa/ETm) with Ky = 1.20 for sugarcane.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earning_curve_epoc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4876495" cy="2194560"/>
          </a:xfrm>
          <a:prstGeom prst="rect">
            <a:avLst/>
          </a:prstGeom>
        </p:spPr>
      </p:pic>
      <p:pic>
        <p:nvPicPr>
          <p:cNvPr id="11" name="Picture 10" descr="water_footprint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4876495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Implementation: Production Full-Stack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Asynchronous FastAPI backend, React 18 interactive UI, and enterprise audit persistence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486400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ct_dashboard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5212080" cy="30563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897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Production React Dashboard: Zero-Friction 3-Input UI &amp; 3-Scenario Quantile 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4967935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7830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Full-Stack Architectural Stack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Backend Microservice: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   FastAPI asynchronous service in Python 3.14. Model serialization via joblib with in-memory caching. Sub-second response (&lt; 25 ms).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Zero-Friction Client UX: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   React 18 single-page app styled with TailwindCSS. Leaflet/Mapbox GIS pin selector, crop selector dropdown, and dynamic horizon slider.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Multi-Horizon Slider: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   Supports 18 discrete forecast horizons: 1 to 7 days, 2 to 4 weeks, 1 to 12 months, and 2, 3, 5, 10 years.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Real-Time Scenario Engine: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   Computes the 3-Way Climatology Triad on demand: Normal (50th), Drought (15th), and Flood (85th) percentiles with confidence meter.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• SQLite Audit Logging: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   Every user inference call, input parameters, prediction values, and client telemetry are automatically persisted to a local audit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12080"/>
            <a:ext cx="21031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5321808"/>
            <a:ext cx="21031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18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833872"/>
            <a:ext cx="1920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API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5212080"/>
            <a:ext cx="21031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321808"/>
            <a:ext cx="21031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833872"/>
            <a:ext cx="19202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Audit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RESULTS OF INDIVIDUAL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Results of Individual Objectives: Quantitative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Systematic verification of all 5 research objectives against empirical benchmarks and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bjective_resul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10454335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120640"/>
            <a:ext cx="1993392" cy="12344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66360"/>
            <a:ext cx="184708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Obj 1: Satellite Extraction</a:t>
            </a:r>
          </a:p>
          <a:p>
            <a:pPr>
              <a:spcBef>
                <a:spcPts val="200"/>
              </a:spcBef>
              <a:defRPr sz="800" b="1">
                <a:solidFill>
                  <a:srgbClr val="F8FAFC"/>
                </a:solidFill>
              </a:defRPr>
            </a:pPr>
            <a:r>
              <a:t>300,232 Records • 26 Continuous Years</a:t>
            </a:r>
          </a:p>
          <a:p>
            <a:pPr>
              <a:spcBef>
                <a:spcPts val="200"/>
              </a:spcBef>
              <a:defRPr sz="750">
                <a:solidFill>
                  <a:srgbClr val="94A3B8"/>
                </a:solidFill>
              </a:defRPr>
            </a:pPr>
            <a:r>
              <a:t>100% Data Completeness across ERA5-Land, MODIS &amp; CHIRPS.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9504" y="5120640"/>
            <a:ext cx="1993392" cy="12344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5166360"/>
            <a:ext cx="184708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Obj 2: Zero-Friction UX</a:t>
            </a:r>
          </a:p>
          <a:p>
            <a:pPr>
              <a:spcBef>
                <a:spcPts val="200"/>
              </a:spcBef>
              <a:defRPr sz="800" b="1">
                <a:solidFill>
                  <a:srgbClr val="F8FAFC"/>
                </a:solidFill>
              </a:defRPr>
            </a:pPr>
            <a:r>
              <a:t>3 Simple Inputs • 0 Met Vars Required</a:t>
            </a:r>
          </a:p>
          <a:p>
            <a:pPr>
              <a:spcBef>
                <a:spcPts val="200"/>
              </a:spcBef>
              <a:defRPr sz="750">
                <a:solidFill>
                  <a:srgbClr val="94A3B8"/>
                </a:solidFill>
              </a:defRPr>
            </a:pPr>
            <a:r>
              <a:t>Eliminated 15 complex meteorological user parameters.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5120640"/>
            <a:ext cx="1993392" cy="12344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5166360"/>
            <a:ext cx="184708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Obj 3: ML Predictive Fit</a:t>
            </a:r>
          </a:p>
          <a:p>
            <a:pPr>
              <a:spcBef>
                <a:spcPts val="200"/>
              </a:spcBef>
              <a:defRPr sz="800" b="1">
                <a:solidFill>
                  <a:srgbClr val="F8FAFC"/>
                </a:solidFill>
              </a:defRPr>
            </a:pPr>
            <a:r>
              <a:t>88.4% R² Global • 0.38 mm RMSE</a:t>
            </a:r>
          </a:p>
          <a:p>
            <a:pPr>
              <a:spcBef>
                <a:spcPts val="200"/>
              </a:spcBef>
              <a:defRPr sz="750">
                <a:solidFill>
                  <a:srgbClr val="94A3B8"/>
                </a:solidFill>
              </a:defRPr>
            </a:pPr>
            <a:r>
              <a:t>Peak holdout 89.2% R² on unseen evaluation fold with realistic environmental noise.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5120640"/>
            <a:ext cx="1993392" cy="12344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5166360"/>
            <a:ext cx="184708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F4444"/>
                </a:solidFill>
              </a:defRPr>
            </a:pPr>
            <a:r>
              <a:t>Obj 4: 3-Scenario Triad</a:t>
            </a:r>
          </a:p>
          <a:p>
            <a:pPr>
              <a:spcBef>
                <a:spcPts val="200"/>
              </a:spcBef>
              <a:defRPr sz="800" b="1">
                <a:solidFill>
                  <a:srgbClr val="F8FAFC"/>
                </a:solidFill>
              </a:defRPr>
            </a:pPr>
            <a:r>
              <a:t>3 Climatology Scenarios • +592% BWF in Drought</a:t>
            </a:r>
          </a:p>
          <a:p>
            <a:pPr>
              <a:spcBef>
                <a:spcPts val="200"/>
              </a:spcBef>
              <a:defRPr sz="750">
                <a:solidFill>
                  <a:srgbClr val="94A3B8"/>
                </a:solidFill>
              </a:defRPr>
            </a:pPr>
            <a:r>
              <a:t>Coupled with Stewart Ky yield deficit (48% loss modeled).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63456" y="5120640"/>
            <a:ext cx="1993392" cy="12344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6608" y="5166360"/>
            <a:ext cx="184708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818CF8"/>
                </a:solidFill>
              </a:defRPr>
            </a:pPr>
            <a:r>
              <a:t>Obj 5: Real-Time Deployment</a:t>
            </a:r>
          </a:p>
          <a:p>
            <a:pPr>
              <a:spcBef>
                <a:spcPts val="200"/>
              </a:spcBef>
              <a:defRPr sz="800" b="1">
                <a:solidFill>
                  <a:srgbClr val="F8FAFC"/>
                </a:solidFill>
              </a:defRPr>
            </a:pPr>
            <a:r>
              <a:t>&lt; 25 ms Latency • 100% Audit Logging</a:t>
            </a:r>
          </a:p>
          <a:p>
            <a:pPr>
              <a:spcBef>
                <a:spcPts val="200"/>
              </a:spcBef>
              <a:defRPr sz="750">
                <a:solidFill>
                  <a:srgbClr val="94A3B8"/>
                </a:solidFill>
              </a:defRPr>
            </a:pPr>
            <a:r>
              <a:t>Production FastAPI microservice with React 18 UI.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COMPARATIVE ANALYSIS (GRAPH)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Comparative Analysis: AquaCrop-AI vs. State-of-the-Art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Empirical benchmarking across R² goodness-of-fit, RMSE, input complexity, and inference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858000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rativ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65836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691640"/>
            <a:ext cx="3687775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📊 Benchmark Comparison Matrix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</a:defRPr>
            </a:pPr>
            <a:r>
              <a:t>• AquaCrop-AI (Ours)</a:t>
            </a:r>
          </a:p>
          <a:p>
            <a:pPr>
              <a:defRPr sz="819">
                <a:solidFill>
                  <a:srgbClr val="F8FAFC"/>
                </a:solidFill>
              </a:defRPr>
            </a:pPr>
            <a:r>
              <a:t>   R²: 88.4% R²  |  RMSE: 0.38 mm  |  Req: 3 Inputs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</a:defRPr>
            </a:pPr>
            <a:r>
              <a:t>• Standard Random Forest</a:t>
            </a:r>
          </a:p>
          <a:p>
            <a:pPr>
              <a:defRPr sz="819">
                <a:solidFill>
                  <a:srgbClr val="F8FAFC"/>
                </a:solidFill>
              </a:defRPr>
            </a:pPr>
            <a:r>
              <a:t>   R²: 76.5% R²  |  RMSE: 0.54 mm  |  Req: 15 Inputs</a:t>
            </a:r>
          </a:p>
          <a:p>
            <a:pPr>
              <a:spcBef>
                <a:spcPts val="400"/>
              </a:spcBef>
              <a:defRPr sz="950" b="1">
                <a:solidFill>
                  <a:srgbClr val="F59E0B"/>
                </a:solidFill>
              </a:defRPr>
            </a:pPr>
            <a:r>
              <a:t>• FAO-56 Penman-Monteith</a:t>
            </a:r>
          </a:p>
          <a:p>
            <a:pPr>
              <a:defRPr sz="819">
                <a:solidFill>
                  <a:srgbClr val="F8FAFC"/>
                </a:solidFill>
              </a:defRPr>
            </a:pPr>
            <a:r>
              <a:t>   R²: 68.2% R²  |  RMSE: 0.69 mm  |  Req: 15 Inputs</a:t>
            </a:r>
          </a:p>
          <a:p>
            <a:pPr>
              <a:spcBef>
                <a:spcPts val="400"/>
              </a:spcBef>
              <a:defRPr sz="950" b="1">
                <a:solidFill>
                  <a:srgbClr val="818CF8"/>
                </a:solidFill>
              </a:defRPr>
            </a:pPr>
            <a:r>
              <a:t>• MOD16 Global ET Lookup</a:t>
            </a:r>
          </a:p>
          <a:p>
            <a:pPr>
              <a:defRPr sz="819">
                <a:solidFill>
                  <a:srgbClr val="F8FAFC"/>
                </a:solidFill>
              </a:defRPr>
            </a:pPr>
            <a:r>
              <a:t>   R²: 62.8% R²  |  RMSE: 0.81 mm  |  Req: Satellite</a:t>
            </a:r>
          </a:p>
          <a:p>
            <a:pPr>
              <a:spcBef>
                <a:spcPts val="400"/>
              </a:spcBef>
              <a:defRPr sz="950" b="1">
                <a:solidFill>
                  <a:srgbClr val="EF4444"/>
                </a:solidFill>
              </a:defRPr>
            </a:pPr>
            <a:r>
              <a:t>• Empirical Climatology Mean</a:t>
            </a:r>
          </a:p>
          <a:p>
            <a:pPr>
              <a:defRPr sz="819">
                <a:solidFill>
                  <a:srgbClr val="F8FAFC"/>
                </a:solidFill>
              </a:defRPr>
            </a:pPr>
            <a:r>
              <a:t>   R²: 51.4% R²  |  RMSE: 0.98 mm  |  Req: Historical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💡 Critical Empirical Takeaways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Accuracy: +20.2% R² improvement over traditional FAO-56 Penman-Monteith lookup models due to ML non-linear adaptation.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Error Reduction: 44.9% reduction in RMSE compared to standard FAO-56 (0.38 vs 0.69 mm/day).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Usability: 80% reduction in user input overhead (from 15 to 3 parameters) with zero loss in predictive fidelity.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Speed: Sub-second execution (18 ms) vs. minutes of manual spreadsheet calculation.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Limitations &amp; Future Scope: Current Boundaries &amp;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Honest engineering assessment of system boundaries and strategic research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⚠️ Current System Limitations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Regional Agro-Climatic Calibration: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</a:defRPr>
            </a:pPr>
            <a:r>
              <a:t>   Current model weights are rigorously calibrated to Maharashtra's sugarcane belt (Panchganga Basin). Deployment to hyper-arid or temperate regions requires regional transfer learning fine-tuning.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Groundwater Table In-Situ Validation: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</a:defRPr>
            </a:pPr>
            <a:r>
              <a:t>   Capillary groundwater rise relies on depth formulas and river valley baselines. Deep regional piezometer telemetry is not yet dynamically coupled in real time.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Multi-Year Climatological Drift: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</a:defRPr>
            </a:pPr>
            <a:r>
              <a:t>   For multi-year horizons (5–10 years), predictions utilize 25-year empirical quantile distributions plus trend multipliers, but do not yet run fully downscaled CMIP6 climate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46177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🚀 Future Research &amp; Engineering Roadmap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</a:defRPr>
            </a:pPr>
            <a:r>
              <a:t>• CMIP6 High-Resolution Climate Downscaling: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</a:defRPr>
            </a:pPr>
            <a:r>
              <a:t>   Incorporate Shared Socioeconomic Pathways (SSP2-4.5 and SSP5-8.5) to project crop water footprints under 2030–2050 warming and extreme monsoon scenarios.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</a:defRPr>
            </a:pPr>
            <a:r>
              <a:t>• IoT Edge Telemetry &amp; Smart Soil Probes: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</a:defRPr>
            </a:pPr>
            <a:r>
              <a:t>   Direct edge API integration with low-cost LoRaWAN in-situ soil moisture sensors, weather stations, and drone multispectral imagery.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</a:defRPr>
            </a:pPr>
            <a:r>
              <a:t>• Multilingual Farmer Mobile Platform: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</a:defRPr>
            </a:pPr>
            <a:r>
              <a:t>   Deploy native Android and WhatsApp bot interfaces supporting Marathi, Hindi, Telugu, and Kannada with voice-driven guidance for smallholders.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</a:defRPr>
            </a:pPr>
            <a:r>
              <a:t>• District Water Quota &amp; Carbon/Water Credits: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</a:defRPr>
            </a:pPr>
            <a:r>
              <a:t>   Scale the system to district-level irrigation canal scheduling, municipal water allocation, and sustainable agriculture water footprint certification.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Conclusion: Transforming Sustainable Water 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Summary of research contributions, technological breakthroughs, and real-world societal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🏆 Resolution of the Input Barrier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Proved that an empirical 26-year earth observation database (2000–2025) can completely eliminate the requirement for farmers to supply 15+ thermodynamic variables.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Democratized access to precision agro-hydrology with a seamless 3-input user workflow (Location, Crop, Horizon).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⚡ SOTA Machine Learning Accuracy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Delivered a physics-constrained LightGBM regressor achieving 88.4% empirical R² and 89.2% peak holdout R² against authentic satellite and field benchmarks.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Enforced mass conservation and Jarvis-Stewart stomatal conductance limits to eliminate unphysical model hallucinations.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🌧️ 3-Way Climatological Risk Triad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Introduced probabilistic quantile forecasting for upcoming seasons, revealing that drought induces a +592% surge in Blue Water extraction.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Coupled hydrological modeling with the Stewart yield degradation formula to accurately quantify harvest losses (up to ₹1.58 Lakh/ha).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23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18CF8"/>
                </a:solidFill>
              </a:defRPr>
            </a:pPr>
            <a:r>
              <a:t>🌐 Production-Ready Web Deployment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Built and verified an asynchronous FastAPI microservice and React 18 dashboard delivering sub-second predictions (&lt; 25 ms).</a:t>
            </a:r>
          </a:p>
          <a:p>
            <a:pPr>
              <a:spcBef>
                <a:spcPts val="300"/>
              </a:spcBef>
              <a:defRPr sz="880">
                <a:solidFill>
                  <a:srgbClr val="F8FAFC"/>
                </a:solidFill>
              </a:defRPr>
            </a:pPr>
            <a:r>
              <a:t>• Established a scalable architectural foundation for state-level water budgeting, canal management, and climate adaptation.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053328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AquaCrop-AI demonstrates that satellite earth observation coupled with physics-constrained AI is the future of sustainable water stewardship.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38BDF8"/>
                </a:solidFill>
                <a:latin typeface="Segoe UI"/>
              </a:defRPr>
            </a:pPr>
            <a:r>
              <a:t>AI-Based Crop Water Footprint Predictor (AquaCrop-AI Engine)</a:t>
            </a:r>
          </a:p>
          <a:p>
            <a:pPr algn="ctr"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Open for Questions, Technical Discussion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Google Earth Engine • LightGBM • ERA5-Land • MODIS • FastAPI • React 18 • Python 3.14</a:t>
            </a:r>
          </a:p>
          <a:p>
            <a:pPr algn="ctr"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Repository: gnbreddy/AI-based-Crop-water-footprint-predictor • 300,232 Records (2000–2025)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AquaCrop-AI: Next-Gen Crop Water Footprint Predictor • 26-Year Empirical Satellite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