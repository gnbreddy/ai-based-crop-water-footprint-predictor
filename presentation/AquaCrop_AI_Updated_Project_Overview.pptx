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9" r:id="rId1"/>
  </p:sldMasterIdLst>
  <p:notesMasterIdLst>
    <p:notesMasterId r:id="rId19"/>
  </p:notesMasterIdLst>
  <p:sldIdLst>
    <p:sldId id="27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418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platform as a practical bridge between remotely sensed climate information and transparent crop-water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2885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5CB0-4BC0-482B-8F16-87C72BCD225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667589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11DE5CB0-4BC0-482B-8F16-87C72BCD225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60972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DE5CB0-4BC0-482B-8F16-87C72BCD225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76647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4787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5CB0-4BC0-482B-8F16-87C72BCD225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93395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11DE5CB0-4BC0-482B-8F16-87C72BCD225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816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11DE5CB0-4BC0-482B-8F16-87C72BCD225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54777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11DE5CB0-4BC0-482B-8F16-87C72BCD225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478075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11DE5CB0-4BC0-482B-8F16-87C72BCD225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089171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11DE5CB0-4BC0-482B-8F16-87C72BCD225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6388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11DE5CB0-4BC0-482B-8F16-87C72BCD225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688731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11DE5CB0-4BC0-482B-8F16-87C72BCD225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014556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11DE5CB0-4BC0-482B-8F16-87C72BCD225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315101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1DE5CB0-4BC0-482B-8F16-87C72BCD225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618771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11DE5CB0-4BC0-482B-8F16-87C72BCD225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48526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1DE5CB0-4BC0-482B-8F16-87C72BCD225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130301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11DE5CB0-4BC0-482B-8F16-87C72BCD225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781644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DE5CB0-4BC0-482B-8F16-87C72BCD225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8187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11DE5CB0-4BC0-482B-8F16-87C72BCD225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2913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DE5CB0-4BC0-482B-8F16-87C72BCD225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1284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5CB0-4BC0-482B-8F16-87C72BCD225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74896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5CB0-4BC0-482B-8F16-87C72BCD225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1160502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5CB0-4BC0-482B-8F16-87C72BCD225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549530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5CB0-4BC0-482B-8F16-87C72BCD225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791919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DE5CB0-4BC0-482B-8F16-87C72BCD225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489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11DE5CB0-4BC0-482B-8F16-87C72BCD225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3024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QUA">
    <p:bg>
      <p:bgPr>
        <a:solidFill>
          <a:srgbClr val="08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5D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869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11DE5CB0-4BC0-482B-8F16-87C72BCD225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711992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  <p:sldLayoutId id="2147483822" r:id="rId13"/>
    <p:sldLayoutId id="2147483823" r:id="rId14"/>
    <p:sldLayoutId id="2147483824" r:id="rId15"/>
    <p:sldLayoutId id="2147483825" r:id="rId16"/>
    <p:sldLayoutId id="2147483826" r:id="rId17"/>
    <p:sldLayoutId id="2147483827" r:id="rId18"/>
    <p:sldLayoutId id="2147483828" r:id="rId19"/>
    <p:sldLayoutId id="2147483829" r:id="rId20"/>
    <p:sldLayoutId id="2147483830" r:id="rId21"/>
    <p:sldLayoutId id="2147483831" r:id="rId22"/>
    <p:sldLayoutId id="2147483832" r:id="rId23"/>
    <p:sldLayoutId id="2147483833" r:id="rId24"/>
    <p:sldLayoutId id="2147483834" r:id="rId25"/>
    <p:sldLayoutId id="2147483835" r:id="rId26"/>
    <p:sldLayoutId id="2147483836" r:id="rId27"/>
    <p:sldLayoutId id="2147483837" r:id="rId28"/>
  </p:sldLayoutIdLst>
  <p:hf sldNum="0" hdr="0" ftr="0" dt="0"/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9-04 205430.png">
            <a:extLst>
              <a:ext uri="{FF2B5EF4-FFF2-40B4-BE49-F238E27FC236}">
                <a16:creationId xmlns:a16="http://schemas.microsoft.com/office/drawing/2014/main" id="{ECD5304B-CACD-26A4-C595-9EA44B372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343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365760"/>
            <a:ext cx="4297680" cy="4297680"/>
          </a:xfrm>
          <a:prstGeom prst="arc">
            <a:avLst/>
          </a:prstGeom>
          <a:noFill/>
          <a:ln w="38100">
            <a:solidFill>
              <a:srgbClr val="55D6BE">
                <a:alpha val="5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30352"/>
            <a:ext cx="3108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62179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AquaCrop AI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1572768"/>
            <a:ext cx="6400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Universal AI-Based Crop Water Footprint Predictor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2103120"/>
            <a:ext cx="58978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project overview of a full-stack agro-hydrological platform that turns Earth observation data into crop-water footprint estimates.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154680"/>
            <a:ext cx="1737360" cy="941832"/>
          </a:xfrm>
          <a:prstGeom prst="roundRect">
            <a:avLst>
              <a:gd name="adj" fmla="val 7767"/>
            </a:avLst>
          </a:prstGeom>
          <a:solidFill>
            <a:srgbClr val="13385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3291840"/>
            <a:ext cx="140817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8952" y="3703320"/>
            <a:ext cx="14081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user inputs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2542032" y="3154680"/>
            <a:ext cx="1737360" cy="941832"/>
          </a:xfrm>
          <a:prstGeom prst="roundRect">
            <a:avLst>
              <a:gd name="adj" fmla="val 7767"/>
            </a:avLst>
          </a:prstGeom>
          <a:solidFill>
            <a:srgbClr val="13385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06624" y="3291840"/>
            <a:ext cx="140817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 yrs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06624" y="3703320"/>
            <a:ext cx="14081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earth-observation archive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4489704" y="3154680"/>
            <a:ext cx="1737360" cy="941832"/>
          </a:xfrm>
          <a:prstGeom prst="roundRect">
            <a:avLst>
              <a:gd name="adj" fmla="val 7767"/>
            </a:avLst>
          </a:prstGeom>
          <a:solidFill>
            <a:srgbClr val="13385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54296" y="3291840"/>
            <a:ext cx="140817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tiers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54296" y="3703320"/>
            <a:ext cx="14081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decoupled architecture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498080" y="2148840"/>
            <a:ext cx="1417320" cy="338328"/>
          </a:xfrm>
          <a:prstGeom prst="roundRect">
            <a:avLst>
              <a:gd name="adj" fmla="val 21622"/>
            </a:avLst>
          </a:prstGeom>
          <a:solidFill>
            <a:srgbClr val="55D6BE">
              <a:alpha val="18000"/>
            </a:srgbClr>
          </a:solidFill>
          <a:ln w="7620">
            <a:solidFill>
              <a:srgbClr val="55D6BE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71232" y="2194560"/>
            <a:ext cx="12710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Earth observation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070848" y="2148840"/>
            <a:ext cx="1600200" cy="338328"/>
          </a:xfrm>
          <a:prstGeom prst="roundRect">
            <a:avLst>
              <a:gd name="adj" fmla="val 21622"/>
            </a:avLst>
          </a:prstGeom>
          <a:solidFill>
            <a:srgbClr val="55D6BE">
              <a:alpha val="18000"/>
            </a:srgbClr>
          </a:solidFill>
          <a:ln w="7620">
            <a:solidFill>
              <a:srgbClr val="55D6BE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2194560"/>
            <a:ext cx="14538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 stewardship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826496" y="2148840"/>
            <a:ext cx="960120" cy="338328"/>
          </a:xfrm>
          <a:prstGeom prst="roundRect">
            <a:avLst>
              <a:gd name="adj" fmla="val 21622"/>
            </a:avLst>
          </a:prstGeom>
          <a:solidFill>
            <a:srgbClr val="55D6BE">
              <a:alpha val="18000"/>
            </a:srgbClr>
          </a:solidFill>
          <a:ln w="7620">
            <a:solidFill>
              <a:srgbClr val="55D6BE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899648" y="2194560"/>
            <a:ext cx="8138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stack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498080" y="2788920"/>
            <a:ext cx="39776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location selection to footprint reporting — designed for field-relevant decisions.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5D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MOTIVATION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crop-water visibility matters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Agricultural water decisions need timely, understandable, location-aware information.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383280" cy="3063240"/>
          </a:xfrm>
          <a:prstGeom prst="roundRect">
            <a:avLst>
              <a:gd name="adj" fmla="val 2388"/>
            </a:avLst>
          </a:prstGeom>
          <a:solidFill>
            <a:srgbClr val="102C4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84832"/>
            <a:ext cx="420624" cy="420624"/>
          </a:xfrm>
          <a:prstGeom prst="ellipse">
            <a:avLst/>
          </a:prstGeom>
          <a:solidFill>
            <a:srgbClr val="54C5EB"/>
          </a:solidFill>
          <a:ln w="12700">
            <a:solidFill>
              <a:srgbClr val="54C5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97480"/>
            <a:ext cx="28803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 pressure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2880360" cy="1024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Irrigation and groundwater extraction can place severe pressure on regional water resources.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383280" cy="3063240"/>
          </a:xfrm>
          <a:prstGeom prst="roundRect">
            <a:avLst>
              <a:gd name="adj" fmla="val 2388"/>
            </a:avLst>
          </a:prstGeom>
          <a:solidFill>
            <a:srgbClr val="102C4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084832"/>
            <a:ext cx="420624" cy="420624"/>
          </a:xfrm>
          <a:prstGeom prst="ellipse">
            <a:avLst/>
          </a:prstGeom>
          <a:solidFill>
            <a:srgbClr val="F6B44C"/>
          </a:solidFill>
          <a:ln w="12700">
            <a:solidFill>
              <a:srgbClr val="F6B4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697480"/>
            <a:ext cx="28803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Climate variability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3246120"/>
            <a:ext cx="2880360" cy="1024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Weather, vegetation condition and root-zone moisture vary across seasons and locations.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83880" y="1828800"/>
            <a:ext cx="3383280" cy="3063240"/>
          </a:xfrm>
          <a:prstGeom prst="roundRect">
            <a:avLst>
              <a:gd name="adj" fmla="val 2388"/>
            </a:avLst>
          </a:prstGeom>
          <a:solidFill>
            <a:srgbClr val="102C4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2084832"/>
            <a:ext cx="420624" cy="420624"/>
          </a:xfrm>
          <a:prstGeom prst="ellipse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697480"/>
            <a:ext cx="28803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gap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3246120"/>
            <a:ext cx="2880360" cy="1024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 users rarely have access to meteorological instruments or complex model inputs.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5486400"/>
            <a:ext cx="106984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response: combine satellite and reanalysis sources with an accessible web workflow.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5D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PROBLEM STATEMENT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Conventional workflows are difficult to use at field scale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challenge is both scientific and operational: accurate inputs are not readily available to every user.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166360" cy="3840480"/>
          </a:xfrm>
          <a:prstGeom prst="roundRect">
            <a:avLst>
              <a:gd name="adj" fmla="val 1905"/>
            </a:avLst>
          </a:prstGeom>
          <a:solidFill>
            <a:srgbClr val="102C4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57400"/>
            <a:ext cx="43891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07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friction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434840" cy="23774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tools require a long list of atmospheric, crop and soil parameters.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assumptions may not reflect observed vegetation and local soil-water conditions.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calculations are disconnected from maps, databases, APIs and operational dashboards.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46520" y="1783080"/>
            <a:ext cx="5166360" cy="3840480"/>
          </a:xfrm>
          <a:prstGeom prst="roundRect">
            <a:avLst>
              <a:gd name="adj" fmla="val 1905"/>
            </a:avLst>
          </a:prstGeom>
          <a:solidFill>
            <a:srgbClr val="13385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2057400"/>
            <a:ext cx="43891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direction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720840" y="2606040"/>
            <a:ext cx="4434840" cy="23774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 data retrieval and physical normalization.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user journey focused on location, crop and forecast horizon.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 results through reusable services, dashboards and auditable records.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760720" y="3291840"/>
            <a:ext cx="640080" cy="731520"/>
          </a:xfrm>
          <a:prstGeom prst="chevron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5D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LITERATURE SURVEY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Scientific foundations behind the platform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is grounded in established hydrology, crop science and water-footprint practice.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744200" cy="713232"/>
          </a:xfrm>
          <a:prstGeom prst="roundRect">
            <a:avLst>
              <a:gd name="adj" fmla="val 10256"/>
            </a:avLst>
          </a:prstGeom>
          <a:solidFill>
            <a:srgbClr val="102C4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856232"/>
            <a:ext cx="2057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FAO-56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46120" y="1856232"/>
            <a:ext cx="7589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evapotranspiration and crop-coefficient methods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10744200" cy="713232"/>
          </a:xfrm>
          <a:prstGeom prst="roundRect">
            <a:avLst>
              <a:gd name="adj" fmla="val 10256"/>
            </a:avLst>
          </a:prstGeom>
          <a:solidFill>
            <a:srgbClr val="13385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816352"/>
            <a:ext cx="2057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FAO-33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46120" y="2816352"/>
            <a:ext cx="7589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Yield response to water and crop stress relationships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611880"/>
            <a:ext cx="10744200" cy="713232"/>
          </a:xfrm>
          <a:prstGeom prst="roundRect">
            <a:avLst>
              <a:gd name="adj" fmla="val 10256"/>
            </a:avLst>
          </a:prstGeom>
          <a:solidFill>
            <a:srgbClr val="102C4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776472"/>
            <a:ext cx="2057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 Footprint Network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46120" y="3776472"/>
            <a:ext cx="7589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 and blue water-footprint accounting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572000"/>
            <a:ext cx="10744200" cy="713232"/>
          </a:xfrm>
          <a:prstGeom prst="roundRect">
            <a:avLst>
              <a:gd name="adj" fmla="val 10256"/>
            </a:avLst>
          </a:prstGeom>
          <a:solidFill>
            <a:srgbClr val="13385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4736592"/>
            <a:ext cx="2057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Earth observation research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46120" y="4736592"/>
            <a:ext cx="7589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Satellite vegetation, evapotranspiration and precipitation products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5669280"/>
            <a:ext cx="103327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6B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AquaCrop AI integrates these foundations into a deployable digital system.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5D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GAPS IDENTIFIED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research methods to a usable platform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targets the gap between detailed scientific models and real operational workflows.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102C4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502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984248"/>
            <a:ext cx="3840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burden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404872"/>
            <a:ext cx="38862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users should not need to enter complex thermodynamic measurements.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102C4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011680"/>
            <a:ext cx="502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0" y="1984248"/>
            <a:ext cx="3840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fragmentation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2404872"/>
            <a:ext cx="38862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Climate, vegetation and precipitation products are commonly separated.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37490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102C4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977640"/>
            <a:ext cx="502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3950208"/>
            <a:ext cx="3840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interoperability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4370832"/>
            <a:ext cx="38862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alone does not provide APIs, persistence, maps or deployment.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37490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102C4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977640"/>
            <a:ext cx="502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32320" y="3950208"/>
            <a:ext cx="3840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traceability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32320" y="4370832"/>
            <a:ext cx="38862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systems need stored records and repeatable requests.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5D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OBJECTIVES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project sets out to deliver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science-informed product that is simple to use, operationally robust and ready to extend.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86602" y="1636776"/>
            <a:ext cx="347472" cy="3474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830238" y="1709369"/>
            <a:ext cx="246888" cy="1887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9738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Consolidate multi-year Earth observation data for crop-water analysis.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450592"/>
            <a:ext cx="347472" cy="3474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8230" y="2510028"/>
            <a:ext cx="204216" cy="2788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2404872"/>
            <a:ext cx="9738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location- and crop-aware water-footprint calculations.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3255264"/>
            <a:ext cx="347472" cy="3474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314700"/>
            <a:ext cx="259080" cy="2788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3209544"/>
            <a:ext cx="9738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Minimise the user input burden through a guided three-input experience.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4059936"/>
            <a:ext cx="347472" cy="3474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38" y="4094226"/>
            <a:ext cx="246888" cy="2788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4014216"/>
            <a:ext cx="9738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web, API and database layers for real-world use.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2668" y="4824766"/>
            <a:ext cx="347472" cy="3474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8184" y="4859056"/>
            <a:ext cx="192024" cy="2788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4818888"/>
            <a:ext cx="9738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scalable ingestion, auditability and future decision-support features.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5D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ARCHITECTURE /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tiers, one connected workflow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decoupled architecture separates data preparation, physical processing, footprint calculation and delivery.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102C4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2404872"/>
            <a:ext cx="1554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" y="2761488"/>
            <a:ext cx="16002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request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" y="3200400"/>
            <a:ext cx="1572768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 · crop · horizon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14600" y="2679192"/>
            <a:ext cx="265176" cy="502920"/>
          </a:xfrm>
          <a:prstGeom prst="chevron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52928" y="214884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102C4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404872"/>
            <a:ext cx="1554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017520" y="2761488"/>
            <a:ext cx="16002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&amp; context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3200400"/>
            <a:ext cx="1572768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Archive, crop and soil profiles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64608" y="2679192"/>
            <a:ext cx="265176" cy="502920"/>
          </a:xfrm>
          <a:prstGeom prst="chevron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02936" y="214884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102C4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67528" y="2404872"/>
            <a:ext cx="1554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67528" y="2761488"/>
            <a:ext cx="16002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processing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67528" y="3200400"/>
            <a:ext cx="1572768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Climate and crop-water normalization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14616" y="2679192"/>
            <a:ext cx="265176" cy="502920"/>
          </a:xfrm>
          <a:prstGeom prst="chevron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52944" y="214884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102C4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17536" y="2404872"/>
            <a:ext cx="1554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717536" y="2761488"/>
            <a:ext cx="16002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Footprint service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17536" y="3200400"/>
            <a:ext cx="1572768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Green/blue CWF and results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564624" y="2679192"/>
            <a:ext cx="265176" cy="502920"/>
          </a:xfrm>
          <a:prstGeom prst="chevron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02952" y="214884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16465A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67544" y="2404872"/>
            <a:ext cx="1554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067544" y="2761488"/>
            <a:ext cx="16002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67544" y="3200400"/>
            <a:ext cx="1572768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· dashboard · database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05840" y="4800600"/>
            <a:ext cx="100584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B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Decoupling improves maintainability: each tier can be tested, evolved and deployed independently.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5D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DATASET &amp; DATA SOURCES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multi-sensor archive for agricultural context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 foundation combines climate reanalysis, satellite vegetation and precipitation products.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337560" cy="2240280"/>
          </a:xfrm>
          <a:prstGeom prst="roundRect">
            <a:avLst>
              <a:gd name="adj" fmla="val 3265"/>
            </a:avLst>
          </a:prstGeom>
          <a:solidFill>
            <a:srgbClr val="102C4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76272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ECMWF ERA5-Land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761488"/>
            <a:ext cx="27432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Atmosphere, radiation, wind and soil-moisture layers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3593592"/>
            <a:ext cx="2331720" cy="338328"/>
          </a:xfrm>
          <a:prstGeom prst="roundRect">
            <a:avLst>
              <a:gd name="adj" fmla="val 21622"/>
            </a:avLst>
          </a:prstGeom>
          <a:solidFill>
            <a:srgbClr val="F6B44C">
              <a:alpha val="18000"/>
            </a:srgbClr>
          </a:solidFill>
          <a:ln w="7620">
            <a:solidFill>
              <a:srgbClr val="F6B44C">
                <a:alpha val="5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3639312"/>
            <a:ext cx="21854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6B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Hourly · ~9 km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462272" y="1874520"/>
            <a:ext cx="3337560" cy="2240280"/>
          </a:xfrm>
          <a:prstGeom prst="roundRect">
            <a:avLst>
              <a:gd name="adj" fmla="val 3265"/>
            </a:avLst>
          </a:prstGeom>
          <a:solidFill>
            <a:srgbClr val="13385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2176272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NASA MODIS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90872" y="2761488"/>
            <a:ext cx="27432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Evapotranspiration, NDVI and EVI vegetation measures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90872" y="3593592"/>
            <a:ext cx="2331720" cy="338328"/>
          </a:xfrm>
          <a:prstGeom prst="roundRect">
            <a:avLst>
              <a:gd name="adj" fmla="val 21622"/>
            </a:avLst>
          </a:prstGeom>
          <a:solidFill>
            <a:srgbClr val="F6B44C">
              <a:alpha val="18000"/>
            </a:srgbClr>
          </a:solidFill>
          <a:ln w="7620">
            <a:solidFill>
              <a:srgbClr val="F6B44C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4024" y="3639312"/>
            <a:ext cx="21854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6B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8–16 day · 250 m–1 km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284464" y="1874520"/>
            <a:ext cx="3337560" cy="2240280"/>
          </a:xfrm>
          <a:prstGeom prst="roundRect">
            <a:avLst>
              <a:gd name="adj" fmla="val 3265"/>
            </a:avLst>
          </a:prstGeom>
          <a:solidFill>
            <a:srgbClr val="102C4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13064" y="2176272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CHIRPS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13064" y="2761488"/>
            <a:ext cx="27432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Satellite–station blended precipitation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513064" y="3593592"/>
            <a:ext cx="2331720" cy="338328"/>
          </a:xfrm>
          <a:prstGeom prst="roundRect">
            <a:avLst>
              <a:gd name="adj" fmla="val 21622"/>
            </a:avLst>
          </a:prstGeom>
          <a:solidFill>
            <a:srgbClr val="F6B44C">
              <a:alpha val="18000"/>
            </a:srgbClr>
          </a:solidFill>
          <a:ln w="7620">
            <a:solidFill>
              <a:srgbClr val="F6B44C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86216" y="3639312"/>
            <a:ext cx="21854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6B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· ~5.5 km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143000" y="4754880"/>
            <a:ext cx="2743200" cy="941832"/>
          </a:xfrm>
          <a:prstGeom prst="roundRect">
            <a:avLst>
              <a:gd name="adj" fmla="val 7767"/>
            </a:avLst>
          </a:prstGeom>
          <a:solidFill>
            <a:srgbClr val="13385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07592" y="4892040"/>
            <a:ext cx="241401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2000–2025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07592" y="5303520"/>
            <a:ext cx="24140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archive coverage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4709160" y="4754880"/>
            <a:ext cx="2743200" cy="941832"/>
          </a:xfrm>
          <a:prstGeom prst="roundRect">
            <a:avLst>
              <a:gd name="adj" fmla="val 7767"/>
            </a:avLst>
          </a:prstGeom>
          <a:solidFill>
            <a:srgbClr val="13385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4892040"/>
            <a:ext cx="241401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300,232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873752" y="5303520"/>
            <a:ext cx="24140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observational records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8275320" y="4754880"/>
            <a:ext cx="2743200" cy="941832"/>
          </a:xfrm>
          <a:prstGeom prst="roundRect">
            <a:avLst>
              <a:gd name="adj" fmla="val 7767"/>
            </a:avLst>
          </a:prstGeom>
          <a:solidFill>
            <a:srgbClr val="13385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39912" y="4892040"/>
            <a:ext cx="241401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nodes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439912" y="5303520"/>
            <a:ext cx="24140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Kolhapur monitoring locations</a:t>
            </a:r>
            <a:endParaRPr lang="en-US" sz="93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5D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· INPUT FEATURES, TARGET &amp;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simplicity backed by agro-hydrological context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transforms readily available location and crop context into water-footprint outputs.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80360" cy="3291840"/>
          </a:xfrm>
          <a:prstGeom prst="roundRect">
            <a:avLst>
              <a:gd name="adj" fmla="val 2540"/>
            </a:avLst>
          </a:prstGeom>
          <a:solidFill>
            <a:srgbClr val="102C4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57400"/>
            <a:ext cx="2148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inputs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14400" y="2697480"/>
            <a:ext cx="2240280" cy="393192"/>
          </a:xfrm>
          <a:prstGeom prst="roundRect">
            <a:avLst>
              <a:gd name="adj" fmla="val 18605"/>
            </a:avLst>
          </a:prstGeom>
          <a:solidFill>
            <a:srgbClr val="13385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788920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291840"/>
            <a:ext cx="2240280" cy="393192"/>
          </a:xfrm>
          <a:prstGeom prst="roundRect">
            <a:avLst>
              <a:gd name="adj" fmla="val 18605"/>
            </a:avLst>
          </a:prstGeom>
          <a:solidFill>
            <a:srgbClr val="13385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383280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type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886200"/>
            <a:ext cx="2240280" cy="393192"/>
          </a:xfrm>
          <a:prstGeom prst="roundRect">
            <a:avLst>
              <a:gd name="adj" fmla="val 18605"/>
            </a:avLst>
          </a:prstGeom>
          <a:solidFill>
            <a:srgbClr val="13385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977640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horizon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94760" y="2953512"/>
            <a:ext cx="713232" cy="731520"/>
          </a:xfrm>
          <a:prstGeom prst="chevron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737360"/>
            <a:ext cx="2880360" cy="3291840"/>
          </a:xfrm>
          <a:prstGeom prst="roundRect">
            <a:avLst>
              <a:gd name="adj" fmla="val 2540"/>
            </a:avLst>
          </a:prstGeom>
          <a:solidFill>
            <a:srgbClr val="102C4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2057400"/>
            <a:ext cx="2148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54C5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context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074920" y="2697480"/>
            <a:ext cx="224028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Satellite and reanalysis variables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profiles and soil properties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crop-water calculations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55280" y="2953512"/>
            <a:ext cx="713232" cy="731520"/>
          </a:xfrm>
          <a:prstGeom prst="chevron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0" y="173736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13385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235440" y="2697480"/>
            <a:ext cx="18745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water footprint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Green-water contribution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Blue-water requirement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Yield-aware context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5D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· DATA PREPROCESSING &amp; FEATURE ENGINEERING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raw observations to physically meaningful inputs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is harmonised, checked and transformed before crop-water calculations are applied.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463040" y="1828800"/>
            <a:ext cx="1005840" cy="1005840"/>
          </a:xfrm>
          <a:prstGeom prst="ellipse">
            <a:avLst/>
          </a:prstGeom>
          <a:solidFill>
            <a:srgbClr val="102C44"/>
          </a:solidFill>
          <a:ln w="15240">
            <a:solidFill>
              <a:srgbClr val="55D6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64792" y="2121408"/>
            <a:ext cx="4114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20574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Harmonise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3317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 timestamps, units and source-specific formats.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2331720"/>
            <a:ext cx="777240" cy="0"/>
          </a:xfrm>
          <a:prstGeom prst="line">
            <a:avLst/>
          </a:prstGeom>
          <a:noFill/>
          <a:ln w="19050">
            <a:solidFill>
              <a:srgbClr val="55D6B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43400" y="1828800"/>
            <a:ext cx="1005840" cy="1005840"/>
          </a:xfrm>
          <a:prstGeom prst="ellipse">
            <a:avLst/>
          </a:prstGeom>
          <a:solidFill>
            <a:srgbClr val="133854"/>
          </a:solidFill>
          <a:ln w="15240">
            <a:solidFill>
              <a:srgbClr val="55D6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121408"/>
            <a:ext cx="4114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840480" y="3063240"/>
            <a:ext cx="20574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03320" y="3566160"/>
            <a:ext cx="23317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quality checks and physical bounds.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06440" y="2331720"/>
            <a:ext cx="777240" cy="0"/>
          </a:xfrm>
          <a:prstGeom prst="line">
            <a:avLst/>
          </a:prstGeom>
          <a:noFill/>
          <a:ln w="19050">
            <a:solidFill>
              <a:srgbClr val="55D6B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223760" y="1828800"/>
            <a:ext cx="1005840" cy="1005840"/>
          </a:xfrm>
          <a:prstGeom prst="ellipse">
            <a:avLst/>
          </a:prstGeom>
          <a:solidFill>
            <a:srgbClr val="102C44"/>
          </a:solidFill>
          <a:ln w="15240">
            <a:solidFill>
              <a:srgbClr val="55D6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2121408"/>
            <a:ext cx="4114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720840" y="3063240"/>
            <a:ext cx="20574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3566160"/>
            <a:ext cx="23317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 climate and soil-water descriptors.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0" y="2331720"/>
            <a:ext cx="777240" cy="0"/>
          </a:xfrm>
          <a:prstGeom prst="line">
            <a:avLst/>
          </a:prstGeom>
          <a:noFill/>
          <a:ln w="19050">
            <a:solidFill>
              <a:srgbClr val="55D6BE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104120" y="1828800"/>
            <a:ext cx="1005840" cy="1005840"/>
          </a:xfrm>
          <a:prstGeom prst="ellipse">
            <a:avLst/>
          </a:prstGeom>
          <a:solidFill>
            <a:srgbClr val="133854"/>
          </a:solidFill>
          <a:ln w="15240">
            <a:solidFill>
              <a:srgbClr val="55D6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05872" y="2121408"/>
            <a:ext cx="4114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601200" y="3063240"/>
            <a:ext cx="20574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64040" y="3566160"/>
            <a:ext cx="23317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Attach crop, soil and location profiles.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4983480"/>
            <a:ext cx="106070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6B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a consistent agronomic data layer suitable for transparent water-footprint reporting.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5D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· MODEL TRAINING &amp; CWF CALCULATION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Water-footprint accounting that keeps sources visible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calculation separates rain-fed contribution from irrigation-related demand and relates water use to crop output.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3063240" cy="2377440"/>
          </a:xfrm>
          <a:prstGeom prst="roundRect">
            <a:avLst>
              <a:gd name="adj" fmla="val 3077"/>
            </a:avLst>
          </a:prstGeom>
          <a:solidFill>
            <a:srgbClr val="102C4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Effective rainfall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743200"/>
            <a:ext cx="2286000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 available from precipitation and soil storage contributes to the green component.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828800"/>
            <a:ext cx="3063240" cy="2377440"/>
          </a:xfrm>
          <a:prstGeom prst="roundRect">
            <a:avLst>
              <a:gd name="adj" fmla="val 3077"/>
            </a:avLst>
          </a:prstGeom>
          <a:solidFill>
            <a:srgbClr val="13385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54C5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water use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846320" y="2743200"/>
            <a:ext cx="2286000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and climate context inform the consumptive water-use estimate.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58200" y="1828800"/>
            <a:ext cx="3063240" cy="2377440"/>
          </a:xfrm>
          <a:prstGeom prst="roundRect">
            <a:avLst>
              <a:gd name="adj" fmla="val 3077"/>
            </a:avLst>
          </a:prstGeom>
          <a:solidFill>
            <a:srgbClr val="102C4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3252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Footprint output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732520" y="2743200"/>
            <a:ext cx="2286000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 and blue components are reported per yield unit and per land area.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86200" y="2670048"/>
            <a:ext cx="457200" cy="594360"/>
          </a:xfrm>
          <a:prstGeom prst="chevron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2670048"/>
            <a:ext cx="457200" cy="594360"/>
          </a:xfrm>
          <a:prstGeom prst="chevron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983480"/>
            <a:ext cx="106070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6B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 are designed to make the origin and scale of agricultural water use understandable.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5D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· SYSTEM IMPLEMENTATION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Production-oriented full-stack implementation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repository contains interfaces, APIs, persistence and asynchronous ingestion components.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349240" cy="1389888"/>
          </a:xfrm>
          <a:prstGeom prst="roundRect">
            <a:avLst>
              <a:gd name="adj" fmla="val 5263"/>
            </a:avLst>
          </a:prstGeom>
          <a:solidFill>
            <a:srgbClr val="102C4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dashboard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2304288"/>
            <a:ext cx="46177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Flask dashboard, map-based interactions and a React implementation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99632" y="1645920"/>
            <a:ext cx="5349240" cy="1389888"/>
          </a:xfrm>
          <a:prstGeom prst="roundRect">
            <a:avLst>
              <a:gd name="adj" fmla="val 5263"/>
            </a:avLst>
          </a:prstGeom>
          <a:solidFill>
            <a:srgbClr val="102C4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services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2304288"/>
            <a:ext cx="46177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endpoints for prediction, profiles, records and system status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5349240" cy="1389888"/>
          </a:xfrm>
          <a:prstGeom prst="roundRect">
            <a:avLst>
              <a:gd name="adj" fmla="val 5263"/>
            </a:avLst>
          </a:prstGeom>
          <a:solidFill>
            <a:srgbClr val="102C4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388620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6968" y="4315968"/>
            <a:ext cx="46177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for local use and PostgreSQL 16 for containerised deployment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99632" y="3657600"/>
            <a:ext cx="5349240" cy="1389888"/>
          </a:xfrm>
          <a:prstGeom prst="roundRect">
            <a:avLst>
              <a:gd name="adj" fmla="val 5263"/>
            </a:avLst>
          </a:prstGeom>
          <a:solidFill>
            <a:srgbClr val="13385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88620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Streaming worker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4315968"/>
            <a:ext cx="46177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Asynchronous queue, batch processing and graceful shutdown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5D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· LIMITATIONS &amp; FUTURE SCOPE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remains to be extended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platform establishes a strong base while highlighting opportunities for broader coverage and operational integration.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03520" cy="3794760"/>
          </a:xfrm>
          <a:prstGeom prst="roundRect">
            <a:avLst>
              <a:gd name="adj" fmla="val 1928"/>
            </a:avLst>
          </a:prstGeom>
          <a:solidFill>
            <a:srgbClr val="102C4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4114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6B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limitations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526280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geography is centred on the Kolhapur monitoring region.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resolution and update cadence depend on upstream observation products.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On-farm recommendations need local validation and stakeholder feedback.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03520" cy="3794760"/>
          </a:xfrm>
          <a:prstGeom prst="roundRect">
            <a:avLst>
              <a:gd name="adj" fmla="val 1928"/>
            </a:avLst>
          </a:prstGeom>
          <a:solidFill>
            <a:srgbClr val="13385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011680"/>
            <a:ext cx="4114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606040"/>
            <a:ext cx="4526280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irrigation scheduling with rain-delay logic.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Water-to-rupees and energy-use calculator.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Irrigation-method and crop-switching simulation.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Reservoir and canal-release integration.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5D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· RESULTS OF INDIVIDUAL OBJECTIVES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Delivered capabilities across the project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repository demonstrates an end-to-end foundation rather than a standalone calculation script.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69164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102C4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011680"/>
            <a:ext cx="530352" cy="530352"/>
          </a:xfrm>
          <a:prstGeom prst="ellipse">
            <a:avLst/>
          </a:prstGeom>
          <a:solidFill>
            <a:srgbClr val="54C5EB"/>
          </a:solidFill>
          <a:ln w="12700">
            <a:solidFill>
              <a:srgbClr val="54C5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084832"/>
            <a:ext cx="25603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64208" y="1929384"/>
            <a:ext cx="3840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foundation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64208" y="2368296"/>
            <a:ext cx="38404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 annual data files and a compiled multi-year dataset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102C4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3952" y="2011680"/>
            <a:ext cx="530352" cy="5303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92824" y="2084832"/>
            <a:ext cx="25603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23760" y="1929384"/>
            <a:ext cx="3840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experience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23760" y="2368296"/>
            <a:ext cx="38404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Three-input flow with selectable locations, crops and horizons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" y="370332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102C4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023360"/>
            <a:ext cx="530352" cy="530352"/>
          </a:xfrm>
          <a:prstGeom prst="ellipse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4096512"/>
            <a:ext cx="25603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64208" y="3941064"/>
            <a:ext cx="3840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services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64208" y="4379976"/>
            <a:ext cx="38404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Dashboard, REST gateway, records and profile endpoints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370332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102C4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3952" y="4023360"/>
            <a:ext cx="530352" cy="530352"/>
          </a:xfrm>
          <a:prstGeom prst="ellipse">
            <a:avLst/>
          </a:prstGeom>
          <a:solidFill>
            <a:srgbClr val="F6B44C"/>
          </a:solidFill>
          <a:ln w="12700">
            <a:solidFill>
              <a:srgbClr val="F6B4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92824" y="4096512"/>
            <a:ext cx="25603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23760" y="3941064"/>
            <a:ext cx="3840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readiness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23760" y="4379976"/>
            <a:ext cx="38404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 configuration, worker process and automated tests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5D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· COMPARATIVE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comparison: conventional workflow vs. AquaCrop AI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graph compares workflow coverage, not a predictive-performance benchmark.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99516" y="2221992"/>
            <a:ext cx="2148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integration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86100" y="2167128"/>
            <a:ext cx="384048" cy="228600"/>
          </a:xfrm>
          <a:prstGeom prst="rect">
            <a:avLst/>
          </a:prstGeom>
          <a:solidFill>
            <a:srgbClr val="F6B44C"/>
          </a:solidFill>
          <a:ln w="12700">
            <a:solidFill>
              <a:srgbClr val="F6B4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23660" y="2167128"/>
            <a:ext cx="384048" cy="228600"/>
          </a:xfrm>
          <a:prstGeom prst="rect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98164" y="2167128"/>
            <a:ext cx="384048" cy="228600"/>
          </a:xfrm>
          <a:prstGeom prst="rect">
            <a:avLst/>
          </a:prstGeom>
          <a:solidFill>
            <a:srgbClr val="F6B44C"/>
          </a:solidFill>
          <a:ln w="12700">
            <a:solidFill>
              <a:srgbClr val="F6B4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35724" y="2167128"/>
            <a:ext cx="384048" cy="228600"/>
          </a:xfrm>
          <a:prstGeom prst="rect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0228" y="2167128"/>
            <a:ext cx="384048" cy="228600"/>
          </a:xfrm>
          <a:prstGeom prst="rect">
            <a:avLst/>
          </a:prstGeom>
          <a:solidFill>
            <a:srgbClr val="28516C">
              <a:alpha val="75000"/>
            </a:srgbClr>
          </a:solidFill>
          <a:ln w="12700">
            <a:solidFill>
              <a:srgbClr val="28516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47788" y="2167128"/>
            <a:ext cx="384048" cy="228600"/>
          </a:xfrm>
          <a:prstGeom prst="rect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22292" y="2167128"/>
            <a:ext cx="384048" cy="228600"/>
          </a:xfrm>
          <a:prstGeom prst="rect">
            <a:avLst/>
          </a:prstGeom>
          <a:solidFill>
            <a:srgbClr val="28516C">
              <a:alpha val="75000"/>
            </a:srgbClr>
          </a:solidFill>
          <a:ln w="12700">
            <a:solidFill>
              <a:srgbClr val="28516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9852" y="2167128"/>
            <a:ext cx="384048" cy="228600"/>
          </a:xfrm>
          <a:prstGeom prst="rect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34356" y="2167128"/>
            <a:ext cx="384048" cy="228600"/>
          </a:xfrm>
          <a:prstGeom prst="rect">
            <a:avLst/>
          </a:prstGeom>
          <a:solidFill>
            <a:srgbClr val="28516C">
              <a:alpha val="75000"/>
            </a:srgbClr>
          </a:solidFill>
          <a:ln w="12700">
            <a:solidFill>
              <a:srgbClr val="28516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71916" y="2167128"/>
            <a:ext cx="384048" cy="228600"/>
          </a:xfrm>
          <a:prstGeom prst="rect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" y="2935224"/>
            <a:ext cx="2148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simplicity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86100" y="2880360"/>
            <a:ext cx="384048" cy="228600"/>
          </a:xfrm>
          <a:prstGeom prst="rect">
            <a:avLst/>
          </a:prstGeom>
          <a:solidFill>
            <a:srgbClr val="F6B44C"/>
          </a:solidFill>
          <a:ln w="12700">
            <a:solidFill>
              <a:srgbClr val="F6B4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23660" y="2880360"/>
            <a:ext cx="384048" cy="228600"/>
          </a:xfrm>
          <a:prstGeom prst="rect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98164" y="2880360"/>
            <a:ext cx="384048" cy="228600"/>
          </a:xfrm>
          <a:prstGeom prst="rect">
            <a:avLst/>
          </a:prstGeom>
          <a:solidFill>
            <a:srgbClr val="F6B44C"/>
          </a:solidFill>
          <a:ln w="12700">
            <a:solidFill>
              <a:srgbClr val="F6B4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35724" y="2880360"/>
            <a:ext cx="384048" cy="228600"/>
          </a:xfrm>
          <a:prstGeom prst="rect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0228" y="2880360"/>
            <a:ext cx="384048" cy="228600"/>
          </a:xfrm>
          <a:prstGeom prst="rect">
            <a:avLst/>
          </a:prstGeom>
          <a:solidFill>
            <a:srgbClr val="28516C">
              <a:alpha val="75000"/>
            </a:srgbClr>
          </a:solidFill>
          <a:ln w="12700">
            <a:solidFill>
              <a:srgbClr val="28516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47788" y="2880360"/>
            <a:ext cx="384048" cy="228600"/>
          </a:xfrm>
          <a:prstGeom prst="rect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22292" y="2880360"/>
            <a:ext cx="384048" cy="228600"/>
          </a:xfrm>
          <a:prstGeom prst="rect">
            <a:avLst/>
          </a:prstGeom>
          <a:solidFill>
            <a:srgbClr val="28516C">
              <a:alpha val="75000"/>
            </a:srgbClr>
          </a:solidFill>
          <a:ln w="12700">
            <a:solidFill>
              <a:srgbClr val="28516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9852" y="2880360"/>
            <a:ext cx="384048" cy="228600"/>
          </a:xfrm>
          <a:prstGeom prst="rect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34356" y="2880360"/>
            <a:ext cx="384048" cy="228600"/>
          </a:xfrm>
          <a:prstGeom prst="rect">
            <a:avLst/>
          </a:prstGeom>
          <a:solidFill>
            <a:srgbClr val="28516C">
              <a:alpha val="75000"/>
            </a:srgbClr>
          </a:solidFill>
          <a:ln w="12700">
            <a:solidFill>
              <a:srgbClr val="28516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71916" y="2880360"/>
            <a:ext cx="384048" cy="228600"/>
          </a:xfrm>
          <a:prstGeom prst="rect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8660" y="3648456"/>
            <a:ext cx="2148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delivery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086100" y="3593592"/>
            <a:ext cx="384048" cy="228600"/>
          </a:xfrm>
          <a:prstGeom prst="rect">
            <a:avLst/>
          </a:prstGeom>
          <a:solidFill>
            <a:srgbClr val="F6B44C"/>
          </a:solidFill>
          <a:ln w="12700">
            <a:solidFill>
              <a:srgbClr val="F6B44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23660" y="3593592"/>
            <a:ext cx="384048" cy="228600"/>
          </a:xfrm>
          <a:prstGeom prst="rect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98164" y="3593592"/>
            <a:ext cx="384048" cy="228600"/>
          </a:xfrm>
          <a:prstGeom prst="rect">
            <a:avLst/>
          </a:prstGeom>
          <a:solidFill>
            <a:srgbClr val="28516C">
              <a:alpha val="75000"/>
            </a:srgbClr>
          </a:solidFill>
          <a:ln w="12700">
            <a:solidFill>
              <a:srgbClr val="28516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35724" y="3593592"/>
            <a:ext cx="384048" cy="228600"/>
          </a:xfrm>
          <a:prstGeom prst="rect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0228" y="3593592"/>
            <a:ext cx="384048" cy="228600"/>
          </a:xfrm>
          <a:prstGeom prst="rect">
            <a:avLst/>
          </a:prstGeom>
          <a:solidFill>
            <a:srgbClr val="28516C">
              <a:alpha val="75000"/>
            </a:srgbClr>
          </a:solidFill>
          <a:ln w="12700">
            <a:solidFill>
              <a:srgbClr val="28516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47788" y="3593592"/>
            <a:ext cx="384048" cy="228600"/>
          </a:xfrm>
          <a:prstGeom prst="rect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22292" y="3593592"/>
            <a:ext cx="384048" cy="228600"/>
          </a:xfrm>
          <a:prstGeom prst="rect">
            <a:avLst/>
          </a:prstGeom>
          <a:solidFill>
            <a:srgbClr val="28516C">
              <a:alpha val="75000"/>
            </a:srgbClr>
          </a:solidFill>
          <a:ln w="12700">
            <a:solidFill>
              <a:srgbClr val="28516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59852" y="3593592"/>
            <a:ext cx="384048" cy="228600"/>
          </a:xfrm>
          <a:prstGeom prst="rect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34356" y="3593592"/>
            <a:ext cx="384048" cy="228600"/>
          </a:xfrm>
          <a:prstGeom prst="rect">
            <a:avLst/>
          </a:prstGeom>
          <a:solidFill>
            <a:srgbClr val="28516C">
              <a:alpha val="75000"/>
            </a:srgbClr>
          </a:solidFill>
          <a:ln w="12700">
            <a:solidFill>
              <a:srgbClr val="28516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71916" y="3593592"/>
            <a:ext cx="384048" cy="228600"/>
          </a:xfrm>
          <a:prstGeom prst="rect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8660" y="4361688"/>
            <a:ext cx="2148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Traceability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086100" y="4306824"/>
            <a:ext cx="384048" cy="228600"/>
          </a:xfrm>
          <a:prstGeom prst="rect">
            <a:avLst/>
          </a:prstGeom>
          <a:solidFill>
            <a:srgbClr val="F6B44C"/>
          </a:solidFill>
          <a:ln w="12700">
            <a:solidFill>
              <a:srgbClr val="F6B44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23660" y="4306824"/>
            <a:ext cx="384048" cy="228600"/>
          </a:xfrm>
          <a:prstGeom prst="rect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98164" y="4306824"/>
            <a:ext cx="384048" cy="228600"/>
          </a:xfrm>
          <a:prstGeom prst="rect">
            <a:avLst/>
          </a:prstGeom>
          <a:solidFill>
            <a:srgbClr val="28516C">
              <a:alpha val="75000"/>
            </a:srgbClr>
          </a:solidFill>
          <a:ln w="12700">
            <a:solidFill>
              <a:srgbClr val="28516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35724" y="4306824"/>
            <a:ext cx="384048" cy="228600"/>
          </a:xfrm>
          <a:prstGeom prst="rect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0228" y="4306824"/>
            <a:ext cx="384048" cy="228600"/>
          </a:xfrm>
          <a:prstGeom prst="rect">
            <a:avLst/>
          </a:prstGeom>
          <a:solidFill>
            <a:srgbClr val="28516C">
              <a:alpha val="75000"/>
            </a:srgbClr>
          </a:solidFill>
          <a:ln w="12700">
            <a:solidFill>
              <a:srgbClr val="28516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47788" y="4306824"/>
            <a:ext cx="384048" cy="228600"/>
          </a:xfrm>
          <a:prstGeom prst="rect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22292" y="4306824"/>
            <a:ext cx="384048" cy="228600"/>
          </a:xfrm>
          <a:prstGeom prst="rect">
            <a:avLst/>
          </a:prstGeom>
          <a:solidFill>
            <a:srgbClr val="28516C">
              <a:alpha val="75000"/>
            </a:srgbClr>
          </a:solidFill>
          <a:ln w="12700">
            <a:solidFill>
              <a:srgbClr val="28516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959852" y="4306824"/>
            <a:ext cx="384048" cy="228600"/>
          </a:xfrm>
          <a:prstGeom prst="rect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134356" y="4306824"/>
            <a:ext cx="384048" cy="228600"/>
          </a:xfrm>
          <a:prstGeom prst="rect">
            <a:avLst/>
          </a:prstGeom>
          <a:solidFill>
            <a:srgbClr val="28516C">
              <a:alpha val="75000"/>
            </a:srgbClr>
          </a:solidFill>
          <a:ln w="12700">
            <a:solidFill>
              <a:srgbClr val="28516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71916" y="4306824"/>
            <a:ext cx="384048" cy="228600"/>
          </a:xfrm>
          <a:prstGeom prst="rect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8660" y="5074920"/>
            <a:ext cx="2148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readiness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086100" y="5020056"/>
            <a:ext cx="384048" cy="228600"/>
          </a:xfrm>
          <a:prstGeom prst="rect">
            <a:avLst/>
          </a:prstGeom>
          <a:solidFill>
            <a:srgbClr val="F6B44C"/>
          </a:solidFill>
          <a:ln w="12700">
            <a:solidFill>
              <a:srgbClr val="F6B44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23660" y="5020056"/>
            <a:ext cx="384048" cy="228600"/>
          </a:xfrm>
          <a:prstGeom prst="rect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98164" y="5020056"/>
            <a:ext cx="384048" cy="228600"/>
          </a:xfrm>
          <a:prstGeom prst="rect">
            <a:avLst/>
          </a:prstGeom>
          <a:solidFill>
            <a:srgbClr val="28516C">
              <a:alpha val="75000"/>
            </a:srgbClr>
          </a:solidFill>
          <a:ln w="12700">
            <a:solidFill>
              <a:srgbClr val="28516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35724" y="5020056"/>
            <a:ext cx="384048" cy="228600"/>
          </a:xfrm>
          <a:prstGeom prst="rect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10228" y="5020056"/>
            <a:ext cx="384048" cy="228600"/>
          </a:xfrm>
          <a:prstGeom prst="rect">
            <a:avLst/>
          </a:prstGeom>
          <a:solidFill>
            <a:srgbClr val="28516C">
              <a:alpha val="75000"/>
            </a:srgbClr>
          </a:solidFill>
          <a:ln w="12700">
            <a:solidFill>
              <a:srgbClr val="28516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447788" y="5020056"/>
            <a:ext cx="384048" cy="228600"/>
          </a:xfrm>
          <a:prstGeom prst="rect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22292" y="5020056"/>
            <a:ext cx="384048" cy="228600"/>
          </a:xfrm>
          <a:prstGeom prst="rect">
            <a:avLst/>
          </a:prstGeom>
          <a:solidFill>
            <a:srgbClr val="28516C">
              <a:alpha val="75000"/>
            </a:srgbClr>
          </a:solidFill>
          <a:ln w="12700">
            <a:solidFill>
              <a:srgbClr val="28516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959852" y="5020056"/>
            <a:ext cx="384048" cy="228600"/>
          </a:xfrm>
          <a:prstGeom prst="rect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134356" y="5020056"/>
            <a:ext cx="384048" cy="228600"/>
          </a:xfrm>
          <a:prstGeom prst="rect">
            <a:avLst/>
          </a:prstGeom>
          <a:solidFill>
            <a:srgbClr val="28516C">
              <a:alpha val="75000"/>
            </a:srgbClr>
          </a:solidFill>
          <a:ln w="12700">
            <a:solidFill>
              <a:srgbClr val="28516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471916" y="5020056"/>
            <a:ext cx="384048" cy="228600"/>
          </a:xfrm>
          <a:prstGeom prst="rect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090672" y="1579859"/>
            <a:ext cx="2057400" cy="338328"/>
          </a:xfrm>
          <a:prstGeom prst="roundRect">
            <a:avLst>
              <a:gd name="adj" fmla="val 21622"/>
            </a:avLst>
          </a:prstGeom>
          <a:solidFill>
            <a:srgbClr val="F6B44C">
              <a:alpha val="18000"/>
            </a:srgbClr>
          </a:solidFill>
          <a:ln w="7620">
            <a:solidFill>
              <a:srgbClr val="F6B44C">
                <a:alpha val="55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154680" y="1655064"/>
            <a:ext cx="19110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6B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Conventional workflow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400800" y="1579859"/>
            <a:ext cx="1554480" cy="338328"/>
          </a:xfrm>
          <a:prstGeom prst="roundRect">
            <a:avLst>
              <a:gd name="adj" fmla="val 21622"/>
            </a:avLst>
          </a:prstGeom>
          <a:solidFill>
            <a:srgbClr val="55D6BE">
              <a:alpha val="18000"/>
            </a:srgbClr>
          </a:solidFill>
          <a:ln w="7620">
            <a:solidFill>
              <a:srgbClr val="55D6BE">
                <a:alpha val="55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73952" y="1645920"/>
            <a:ext cx="14081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AquaCrop AI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9281160" y="1645920"/>
            <a:ext cx="1920240" cy="3611880"/>
          </a:xfrm>
          <a:prstGeom prst="roundRect">
            <a:avLst>
              <a:gd name="adj" fmla="val 3810"/>
            </a:avLst>
          </a:prstGeom>
          <a:solidFill>
            <a:srgbClr val="13385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528048" y="1965960"/>
            <a:ext cx="1417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9528048" y="2606040"/>
            <a:ext cx="141732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AquaCrop AI adds integrated data, user-facing delivery, persistent records and deployable services around crop-water calculations.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77240" y="5806440"/>
            <a:ext cx="7680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Scale: 1 = limited coverage · 5 = integrated capability</a:t>
            </a:r>
            <a:endParaRPr lang="en-US" sz="900" dirty="0"/>
          </a:p>
        </p:txBody>
      </p:sp>
      <p:sp>
        <p:nvSpPr>
          <p:cNvPr id="6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5D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914400"/>
            <a:ext cx="45720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691640"/>
            <a:ext cx="64008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B7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AquaCrop AI brings together Earth observation, crop-water science and production software into a practical foundation for sustainable agricultural water management.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102C4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4069080"/>
            <a:ext cx="2743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guided inputs for the user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32461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13385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7720" y="4069080"/>
            <a:ext cx="2743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Data, services, dashboards and records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32461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102C44"/>
          </a:solidFill>
          <a:ln w="10160">
            <a:solidFill>
              <a:srgbClr val="28516C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5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Extensible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66760" y="4069080"/>
            <a:ext cx="2743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 for irrigation decision support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5532120"/>
            <a:ext cx="109728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5D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1242</Words>
  <Application>Microsoft Office PowerPoint</Application>
  <PresentationFormat>Widescreen</PresentationFormat>
  <Paragraphs>247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Haettenschweiler</vt:lpstr>
      <vt:lpstr>Trade Gothic Next Light</vt:lpstr>
      <vt:lpstr>Editorial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AquaCrop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AquaCrop AI — Project Overview</dc:title>
  <dc:subject>Project presentation based on the current README</dc:subject>
  <dc:creator>AquaCrop AI</dc:creator>
  <cp:lastModifiedBy>Bharath Reddy Gopavaram</cp:lastModifiedBy>
  <cp:revision>4</cp:revision>
  <dcterms:created xsi:type="dcterms:W3CDTF">2026-09-04T20:31:07Z</dcterms:created>
  <dcterms:modified xsi:type="dcterms:W3CDTF">2026-09-04T20:47:07Z</dcterms:modified>
</cp:coreProperties>
</file>